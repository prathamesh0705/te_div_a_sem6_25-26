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sldIdLst>
    <p:sldId id="256" r:id="rId3"/>
    <p:sldId id="270" r:id="rId5"/>
    <p:sldId id="258" r:id="rId6"/>
    <p:sldId id="266" r:id="rId7"/>
    <p:sldId id="280" r:id="rId8"/>
    <p:sldId id="278" r:id="rId9"/>
    <p:sldId id="267" r:id="rId10"/>
    <p:sldId id="277" r:id="rId11"/>
    <p:sldId id="262" r:id="rId12"/>
    <p:sldId id="279" r:id="rId13"/>
    <p:sldId id="269" r:id="rId14"/>
    <p:sldId id="272" r:id="rId15"/>
    <p:sldId id="282" r:id="rId16"/>
    <p:sldId id="274" r:id="rId17"/>
    <p:sldId id="281" r:id="rId18"/>
    <p:sldId id="268" r:id="rId19"/>
    <p:sldId id="260" r:id="rId20"/>
  </p:sldIdLst>
  <p:sldSz cx="10080625" cy="7559675"/>
  <p:notesSz cx="7559675" cy="10691495"/>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4632" autoAdjust="0"/>
  </p:normalViewPr>
  <p:slideViewPr>
    <p:cSldViewPr showGuides="1">
      <p:cViewPr varScale="1">
        <p:scale>
          <a:sx n="73" d="100"/>
          <a:sy n="73" d="100"/>
        </p:scale>
        <p:origin x="1526" y="72"/>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lstStyle/>
          <a:p>
            <a:pPr lvl="0"/>
            <a:endParaRPr lang="en-US" altLang="en-US" noProof="0"/>
          </a:p>
        </p:txBody>
      </p:sp>
      <p:sp>
        <p:nvSpPr>
          <p:cNvPr id="3075" name="Rectangle 3"/>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8" charset="0"/>
                <a:cs typeface="DejaVu Sans" charset="0"/>
              </a:defRPr>
            </a:lvl1pPr>
          </a:lstStyle>
          <a:p>
            <a:pPr>
              <a:defRPr/>
            </a:pPr>
            <a:fld id="{012F271E-2372-4E85-B168-328907F821F6}" type="slidenum">
              <a:rPr lang="en-IN" altLang="en-US"/>
            </a:fld>
            <a:endParaRPr lang="en-IN" altLang="en-US"/>
          </a:p>
        </p:txBody>
      </p:sp>
    </p:spTree>
  </p:cSld>
  <p:clrMap bg1="lt1" tx1="dk1" bg2="lt2" tx2="dk2" accent1="accent1" accent2="accent2" accent3="accent3" accent4="accent4" accent5="accent5" accent6="accent6" hlink="hlink" folHlink="folHlink"/>
  <p:notesStyle>
    <a:lvl1pPr algn="l" defTabSz="44958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58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58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58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58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D29F7C69-C06F-402E-9517-9079CB75FAB3}" type="slidenum">
              <a:rPr lang="en-IN" altLang="en-US" sz="1400" smtClean="0"/>
            </a:fld>
            <a:endParaRPr lang="en-IN" altLang="en-US" sz="1400"/>
          </a:p>
        </p:txBody>
      </p:sp>
      <p:sp>
        <p:nvSpPr>
          <p:cNvPr id="9219" name="Rectangle 1"/>
          <p:cNvSpPr>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2B82E266-81DF-481E-A137-84D82A004002}" type="slidenum">
              <a:rPr lang="en-IN" altLang="en-US" sz="1400" smtClean="0"/>
            </a:fld>
            <a:endParaRPr lang="en-IN" altLang="en-US" sz="1400"/>
          </a:p>
        </p:txBody>
      </p:sp>
      <p:sp>
        <p:nvSpPr>
          <p:cNvPr id="11267" name="Rectangle 1"/>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35F25581-3B40-4734-8E83-35CB147F03C7}" type="slidenum">
              <a:rPr lang="en-IN" altLang="en-US" sz="1400" smtClean="0"/>
            </a:fld>
            <a:endParaRPr lang="en-IN" altLang="en-US" sz="1400"/>
          </a:p>
        </p:txBody>
      </p:sp>
      <p:sp>
        <p:nvSpPr>
          <p:cNvPr id="13315" name="Rectangle 1"/>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B4FB994F-8647-4F0B-A5F2-7813C2709C29}" type="slidenum">
              <a:rPr lang="en-IN" altLang="en-US" sz="1400" smtClean="0"/>
            </a:fld>
            <a:endParaRPr lang="en-IN" altLang="en-US" sz="1400"/>
          </a:p>
        </p:txBody>
      </p:sp>
      <p:sp>
        <p:nvSpPr>
          <p:cNvPr id="15363" name="Rectangle 1"/>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A620B9D9-E2B5-4D0A-827B-432511ADD91A}" type="slidenum">
              <a:rPr lang="en-IN" altLang="en-US" sz="1400" smtClean="0"/>
            </a:fld>
            <a:endParaRPr lang="en-IN" altLang="en-US" sz="1400"/>
          </a:p>
        </p:txBody>
      </p:sp>
      <p:sp>
        <p:nvSpPr>
          <p:cNvPr id="20483" name="Rectangle 1"/>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643E9482-6013-425C-AF2F-769C045DB0F3}" type="slidenum">
              <a:rPr lang="en-IN" altLang="en-US" sz="1400" smtClean="0"/>
            </a:fld>
            <a:endParaRPr lang="en-IN" altLang="en-US" sz="1400"/>
          </a:p>
        </p:txBody>
      </p:sp>
      <p:sp>
        <p:nvSpPr>
          <p:cNvPr id="23555" name="Rectangle 1"/>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69C5D47E-FA70-4F05-869C-024F1653895F}" type="slidenum">
              <a:rPr lang="en-IN" altLang="en-US" sz="1400" smtClean="0"/>
            </a:fld>
            <a:endParaRPr lang="en-IN" altLang="en-US" sz="1400"/>
          </a:p>
        </p:txBody>
      </p:sp>
      <p:sp>
        <p:nvSpPr>
          <p:cNvPr id="27651" name="Rectangle 1"/>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29A2423A-2B93-4A0B-ADD8-EC56AF63D4AA}" type="slidenum">
              <a:rPr lang="en-IN" altLang="en-US" sz="1400" smtClean="0"/>
            </a:fld>
            <a:endParaRPr lang="en-IN" altLang="en-US" sz="1400"/>
          </a:p>
        </p:txBody>
      </p:sp>
      <p:sp>
        <p:nvSpPr>
          <p:cNvPr id="29699" name="Rectangle 1"/>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70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Lst>
              <a:defRPr sz="1200">
                <a:solidFill>
                  <a:srgbClr val="000000"/>
                </a:solidFill>
                <a:latin typeface="Times New Roman" panose="02020603050405020304" pitchFamily="18" charset="0"/>
              </a:defRPr>
            </a:lvl9pPr>
          </a:lstStyle>
          <a:p>
            <a:pPr fontAlgn="base">
              <a:spcBef>
                <a:spcPct val="0"/>
              </a:spcBef>
              <a:spcAft>
                <a:spcPct val="0"/>
              </a:spcAft>
            </a:pPr>
            <a:fld id="{07CEB9F6-7A05-47A7-89CE-98F88A1EDB63}" type="slidenum">
              <a:rPr lang="en-IN" altLang="en-US" sz="1400" smtClean="0"/>
            </a:fld>
            <a:endParaRPr lang="en-IN" altLang="en-US" sz="1400"/>
          </a:p>
        </p:txBody>
      </p:sp>
      <p:sp>
        <p:nvSpPr>
          <p:cNvPr id="31747" name="Rectangle 1"/>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4" name="Group 17"/>
          <p:cNvGrpSpPr/>
          <p:nvPr/>
        </p:nvGrpSpPr>
        <p:grpSpPr bwMode="auto">
          <a:xfrm>
            <a:off x="-9525" y="-9525"/>
            <a:ext cx="10110788" cy="7578725"/>
            <a:chOff x="-8466" y="-8468"/>
            <a:chExt cx="9171316" cy="6874935"/>
          </a:xfrm>
        </p:grpSpPr>
        <p:cxnSp>
          <p:nvCxnSpPr>
            <p:cNvPr id="5" name="Straight Connector 4"/>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4190" indent="0" algn="ctr">
              <a:buNone/>
              <a:defRPr>
                <a:solidFill>
                  <a:schemeClr val="tx1">
                    <a:tint val="75000"/>
                  </a:schemeClr>
                </a:solidFill>
              </a:defRPr>
            </a:lvl2pPr>
            <a:lvl3pPr marL="1007745" indent="0" algn="ctr">
              <a:buNone/>
              <a:defRPr>
                <a:solidFill>
                  <a:schemeClr val="tx1">
                    <a:tint val="75000"/>
                  </a:schemeClr>
                </a:solidFill>
              </a:defRPr>
            </a:lvl3pPr>
            <a:lvl4pPr marL="1511935" indent="0" algn="ctr">
              <a:buNone/>
              <a:defRPr>
                <a:solidFill>
                  <a:schemeClr val="tx1">
                    <a:tint val="75000"/>
                  </a:schemeClr>
                </a:solidFill>
              </a:defRPr>
            </a:lvl4pPr>
            <a:lvl5pPr marL="2016125" indent="0" algn="ctr">
              <a:buNone/>
              <a:defRPr>
                <a:solidFill>
                  <a:schemeClr val="tx1">
                    <a:tint val="75000"/>
                  </a:schemeClr>
                </a:solidFill>
              </a:defRPr>
            </a:lvl5pPr>
            <a:lvl6pPr marL="2519680" indent="0" algn="ctr">
              <a:buNone/>
              <a:defRPr>
                <a:solidFill>
                  <a:schemeClr val="tx1">
                    <a:tint val="75000"/>
                  </a:schemeClr>
                </a:solidFill>
              </a:defRPr>
            </a:lvl6pPr>
            <a:lvl7pPr marL="3023870" indent="0" algn="ctr">
              <a:buNone/>
              <a:defRPr>
                <a:solidFill>
                  <a:schemeClr val="tx1">
                    <a:tint val="75000"/>
                  </a:schemeClr>
                </a:solidFill>
              </a:defRPr>
            </a:lvl7pPr>
            <a:lvl8pPr marL="3528060" indent="0" algn="ctr">
              <a:buNone/>
              <a:defRPr>
                <a:solidFill>
                  <a:schemeClr val="tx1">
                    <a:tint val="75000"/>
                  </a:schemeClr>
                </a:solidFill>
              </a:defRPr>
            </a:lvl8pPr>
            <a:lvl9pPr marL="4031615" indent="0" algn="ctr">
              <a:buNone/>
              <a:defRPr>
                <a:solidFill>
                  <a:schemeClr val="tx1">
                    <a:tint val="75000"/>
                  </a:schemeClr>
                </a:solidFill>
              </a:defRPr>
            </a:lvl9pPr>
          </a:lstStyle>
          <a:p>
            <a:r>
              <a:rPr lang="en-US"/>
              <a:t>Click to edit Master subtitle style</a:t>
            </a:r>
            <a:endParaRPr lang="en-US" dirty="0"/>
          </a:p>
        </p:txBody>
      </p:sp>
      <p:sp>
        <p:nvSpPr>
          <p:cNvPr id="15" name="Date Placeholder 3"/>
          <p:cNvSpPr>
            <a:spLocks noGrp="1"/>
          </p:cNvSpPr>
          <p:nvPr>
            <p:ph type="dt" sz="half" idx="10"/>
          </p:nvPr>
        </p:nvSpPr>
        <p:spPr/>
        <p:txBody>
          <a:bodyPr/>
          <a:lstStyle>
            <a:lvl1pPr>
              <a:defRPr/>
            </a:lvl1pPr>
          </a:lstStyle>
          <a:p>
            <a:pPr>
              <a:defRPr/>
            </a:pPr>
            <a:fld id="{382FDE4E-3E40-411A-932C-B86DC2DFB8D9}" type="datetimeFigureOut">
              <a:rPr lang="en-US"/>
            </a:fld>
            <a:endParaRPr lang="en-US" dirty="0"/>
          </a:p>
        </p:txBody>
      </p:sp>
      <p:sp>
        <p:nvSpPr>
          <p:cNvPr id="16" name="Footer Placeholder 4"/>
          <p:cNvSpPr>
            <a:spLocks noGrp="1"/>
          </p:cNvSpPr>
          <p:nvPr>
            <p:ph type="ftr" sz="quarter" idx="11"/>
          </p:nvPr>
        </p:nvSpPr>
        <p:spPr/>
        <p:txBody>
          <a:bodyPr/>
          <a:lstStyle>
            <a:lvl1pPr>
              <a:defRPr/>
            </a:lvl1pPr>
          </a:lstStyle>
          <a:p>
            <a:pPr>
              <a:defRPr/>
            </a:pPr>
            <a:endParaRPr lang="en-US"/>
          </a:p>
        </p:txBody>
      </p:sp>
      <p:sp>
        <p:nvSpPr>
          <p:cNvPr id="17" name="Slide Number Placeholder 5"/>
          <p:cNvSpPr>
            <a:spLocks noGrp="1"/>
          </p:cNvSpPr>
          <p:nvPr>
            <p:ph type="sldNum" sz="quarter" idx="12"/>
          </p:nvPr>
        </p:nvSpPr>
        <p:spPr/>
        <p:txBody>
          <a:bodyPr/>
          <a:lstStyle>
            <a:lvl1pPr>
              <a:defRPr/>
            </a:lvl1pPr>
          </a:lstStyle>
          <a:p>
            <a:pPr>
              <a:defRPr/>
            </a:pPr>
            <a:fld id="{F117D337-A756-4EAA-AF17-20D9F809C5C7}" type="slidenum">
              <a:rPr lang="en-US"/>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7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E6EA920-E148-4F0A-BE1E-C5AEF3F1A74C}"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D08FE3F-053F-4DCF-8ABD-C4FBA9BABFFD}" type="slidenum">
              <a:rPr lang="en-US"/>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1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31E8896E-8D3F-4DEF-8D80-06E6F9435CEA}"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8876594-5BB5-41F0-B771-919F1A2C9C7A}" type="slidenum">
              <a:rPr lang="en-US"/>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0DBB5EC9-7979-4DA8-9334-2D234E7F34D6}"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D16DAC8-7D9A-45DE-8FCC-8C07CCAD80B8}" type="slidenum">
              <a:rPr lang="en-US"/>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6B1606E-E8DC-4D84-84AE-F75032C8B61B}" type="datetimeFigureOut">
              <a:rPr lang="en-US"/>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EE2A5DA-A32D-438A-AF5A-EA6FCB222DF5}" type="slidenum">
              <a:rPr lang="en-US"/>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87BA6BFB-CEC7-4914-B11B-84469727F428}" type="datetimeFigureOut">
              <a:rPr lang="en-US"/>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5E149A0-F0BA-487A-AB1A-080BCB2CE589}" type="slidenum">
              <a:rPr lang="en-US"/>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E23B617-31EE-4155-82F2-900851E78370}" type="datetimeFigureOut">
              <a:rPr lang="en-US"/>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1C050981-F7FD-4AD5-85CD-F377DFE49568}" type="slidenum">
              <a:rPr lang="en-US"/>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5"/>
            </a:lvl1pPr>
            <a:lvl2pPr marL="377825" indent="0">
              <a:buNone/>
              <a:defRPr sz="1155"/>
            </a:lvl2pPr>
            <a:lvl3pPr marL="755650" indent="0">
              <a:buNone/>
              <a:defRPr sz="990"/>
            </a:lvl3pPr>
            <a:lvl4pPr marL="1134110" indent="0">
              <a:buNone/>
              <a:defRPr sz="825"/>
            </a:lvl4pPr>
            <a:lvl5pPr marL="1511935" indent="0">
              <a:buNone/>
              <a:defRPr sz="825"/>
            </a:lvl5pPr>
            <a:lvl6pPr marL="1889760" indent="0">
              <a:buNone/>
              <a:defRPr sz="825"/>
            </a:lvl6pPr>
            <a:lvl7pPr marL="2267585" indent="0">
              <a:buNone/>
              <a:defRPr sz="825"/>
            </a:lvl7pPr>
            <a:lvl8pPr marL="2646045" indent="0">
              <a:buNone/>
              <a:defRPr sz="825"/>
            </a:lvl8pPr>
            <a:lvl9pPr marL="3023870" indent="0">
              <a:buNone/>
              <a:defRPr sz="825"/>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FF74FCEB-61D2-448E-B34F-E7C5A9C0F285}"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B597ABD-100E-41D4-9030-675E72458119}" type="slidenum">
              <a:rPr lang="en-US"/>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5"/>
            </a:lvl1pPr>
            <a:lvl2pPr marL="504190" indent="0">
              <a:buNone/>
              <a:defRPr sz="1765"/>
            </a:lvl2pPr>
            <a:lvl3pPr marL="1007745" indent="0">
              <a:buNone/>
              <a:defRPr sz="1765"/>
            </a:lvl3pPr>
            <a:lvl4pPr marL="1511935" indent="0">
              <a:buNone/>
              <a:defRPr sz="1765"/>
            </a:lvl4pPr>
            <a:lvl5pPr marL="2016125" indent="0">
              <a:buNone/>
              <a:defRPr sz="1765"/>
            </a:lvl5pPr>
            <a:lvl6pPr marL="2519680" indent="0">
              <a:buNone/>
              <a:defRPr sz="1765"/>
            </a:lvl6pPr>
            <a:lvl7pPr marL="3023870" indent="0">
              <a:buNone/>
              <a:defRPr sz="1765"/>
            </a:lvl7pPr>
            <a:lvl8pPr marL="3528060" indent="0">
              <a:buNone/>
              <a:defRPr sz="1765"/>
            </a:lvl8pPr>
            <a:lvl9pPr marL="4031615" indent="0">
              <a:buNone/>
              <a:defRPr sz="1765"/>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5"/>
            </a:lvl1pPr>
            <a:lvl2pPr marL="504190" indent="0">
              <a:buNone/>
              <a:defRPr sz="1325"/>
            </a:lvl2pPr>
            <a:lvl3pPr marL="1007745" indent="0">
              <a:buNone/>
              <a:defRPr sz="1100"/>
            </a:lvl3pPr>
            <a:lvl4pPr marL="1511935" indent="0">
              <a:buNone/>
              <a:defRPr sz="990"/>
            </a:lvl4pPr>
            <a:lvl5pPr marL="2016125" indent="0">
              <a:buNone/>
              <a:defRPr sz="990"/>
            </a:lvl5pPr>
            <a:lvl6pPr marL="2519680" indent="0">
              <a:buNone/>
              <a:defRPr sz="990"/>
            </a:lvl6pPr>
            <a:lvl7pPr marL="3023870" indent="0">
              <a:buNone/>
              <a:defRPr sz="990"/>
            </a:lvl7pPr>
            <a:lvl8pPr marL="3528060" indent="0">
              <a:buNone/>
              <a:defRPr sz="990"/>
            </a:lvl8pPr>
            <a:lvl9pPr marL="4031615" indent="0">
              <a:buNone/>
              <a:defRPr sz="99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6AA612DE-5BE5-42A2-958B-04CB21300FFA}"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FE5D212-B0CB-4878-84C4-07E31B9AA892}" type="slidenum">
              <a:rPr lang="en-US"/>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C7EA411F-24CD-4166-BD7A-42561E6FB6EB}"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9CEF8CF-C9BC-4DAA-AC90-9DE698DFA9D4}" type="slidenum">
              <a:rPr lang="en-US"/>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20" dirty="0">
                <a:ln w="3175" cmpd="sng">
                  <a:noFill/>
                </a:ln>
                <a:solidFill>
                  <a:schemeClr val="accent1">
                    <a:lumMod val="60000"/>
                    <a:lumOff val="40000"/>
                  </a:schemeClr>
                </a:solidFill>
                <a:latin typeface="Arial" panose="020B0604020202020204"/>
              </a:rPr>
              <a:t>“</a:t>
            </a:r>
            <a:endParaRPr lang="en-US" sz="8820" dirty="0">
              <a:ln w="3175" cmpd="sng">
                <a:noFill/>
              </a:ln>
              <a:solidFill>
                <a:schemeClr val="accent1">
                  <a:lumMod val="60000"/>
                  <a:lumOff val="40000"/>
                </a:schemeClr>
              </a:solidFill>
              <a:latin typeface="Arial" panose="020B0604020202020204"/>
            </a:endParaRPr>
          </a:p>
        </p:txBody>
      </p:sp>
      <p:sp>
        <p:nvSpPr>
          <p:cNvPr id="5" name="TextBox 4"/>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20" dirty="0">
                <a:ln w="3175" cmpd="sng">
                  <a:noFill/>
                </a:ln>
                <a:solidFill>
                  <a:schemeClr val="accent1">
                    <a:lumMod val="60000"/>
                    <a:lumOff val="40000"/>
                  </a:schemeClr>
                </a:solidFill>
                <a:latin typeface="Arial" panose="020B0604020202020204"/>
              </a:rPr>
              <a:t>”</a:t>
            </a:r>
            <a:endParaRPr lang="en-US" sz="8820" dirty="0">
              <a:ln w="3175" cmpd="sng">
                <a:noFill/>
              </a:ln>
              <a:solidFill>
                <a:schemeClr val="accent1">
                  <a:lumMod val="60000"/>
                  <a:lumOff val="40000"/>
                </a:schemeClr>
              </a:solidFill>
              <a:latin typeface="Arial" panose="020B0604020202020204"/>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5">
                <a:solidFill>
                  <a:schemeClr val="tx1">
                    <a:lumMod val="50000"/>
                    <a:lumOff val="50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6" name="Date Placeholder 3"/>
          <p:cNvSpPr>
            <a:spLocks noGrp="1"/>
          </p:cNvSpPr>
          <p:nvPr>
            <p:ph type="dt" sz="half" idx="14"/>
          </p:nvPr>
        </p:nvSpPr>
        <p:spPr/>
        <p:txBody>
          <a:bodyPr/>
          <a:lstStyle>
            <a:lvl1pPr>
              <a:defRPr/>
            </a:lvl1pPr>
          </a:lstStyle>
          <a:p>
            <a:pPr>
              <a:defRPr/>
            </a:pPr>
            <a:fld id="{B542D0DC-DF30-4E61-A15E-E244ED765BDB}" type="datetimeFigureOut">
              <a:rPr lang="en-US"/>
            </a:fld>
            <a:endParaRPr lang="en-US" dirty="0"/>
          </a:p>
        </p:txBody>
      </p:sp>
      <p:sp>
        <p:nvSpPr>
          <p:cNvPr id="7" name="Footer Placeholder 4"/>
          <p:cNvSpPr>
            <a:spLocks noGrp="1"/>
          </p:cNvSpPr>
          <p:nvPr>
            <p:ph type="ftr" sz="quarter" idx="15"/>
          </p:nvPr>
        </p:nvSpPr>
        <p:spPr/>
        <p:txBody>
          <a:bodyPr/>
          <a:lstStyle>
            <a:lvl1pPr>
              <a:defRPr/>
            </a:lvl1pPr>
          </a:lstStyle>
          <a:p>
            <a:pPr>
              <a:defRPr/>
            </a:pPr>
            <a:endParaRPr lang="en-US"/>
          </a:p>
        </p:txBody>
      </p:sp>
      <p:sp>
        <p:nvSpPr>
          <p:cNvPr id="8" name="Slide Number Placeholder 5"/>
          <p:cNvSpPr>
            <a:spLocks noGrp="1"/>
          </p:cNvSpPr>
          <p:nvPr>
            <p:ph type="sldNum" sz="quarter" idx="16"/>
          </p:nvPr>
        </p:nvSpPr>
        <p:spPr/>
        <p:txBody>
          <a:bodyPr/>
          <a:lstStyle>
            <a:lvl1pPr>
              <a:defRPr/>
            </a:lvl1pPr>
          </a:lstStyle>
          <a:p>
            <a:pPr>
              <a:defRPr/>
            </a:pPr>
            <a:fld id="{D326AC4F-B357-449A-9563-5C35A14F4C07}" type="slidenum">
              <a:rPr lang="en-US"/>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2AE766B7-2651-4EBD-AABB-54817C816E09}"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136FB51-E68F-4F76-ACCC-D36C2023A428}" type="slidenum">
              <a:rPr lang="en-US"/>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20" dirty="0">
                <a:ln w="3175" cmpd="sng">
                  <a:noFill/>
                </a:ln>
                <a:solidFill>
                  <a:schemeClr val="accent1">
                    <a:lumMod val="60000"/>
                    <a:lumOff val="40000"/>
                  </a:schemeClr>
                </a:solidFill>
                <a:latin typeface="Arial" panose="020B0604020202020204"/>
              </a:rPr>
              <a:t>“</a:t>
            </a:r>
            <a:endParaRPr lang="en-US" sz="8820" dirty="0">
              <a:ln w="3175" cmpd="sng">
                <a:noFill/>
              </a:ln>
              <a:solidFill>
                <a:schemeClr val="accent1">
                  <a:lumMod val="60000"/>
                  <a:lumOff val="40000"/>
                </a:schemeClr>
              </a:solidFill>
              <a:latin typeface="Arial" panose="020B0604020202020204"/>
            </a:endParaRPr>
          </a:p>
        </p:txBody>
      </p:sp>
      <p:sp>
        <p:nvSpPr>
          <p:cNvPr id="5" name="TextBox 4"/>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20" dirty="0">
                <a:ln w="3175" cmpd="sng">
                  <a:noFill/>
                </a:ln>
                <a:solidFill>
                  <a:schemeClr val="accent1">
                    <a:lumMod val="60000"/>
                    <a:lumOff val="40000"/>
                  </a:schemeClr>
                </a:solidFill>
                <a:latin typeface="Arial" panose="020B0604020202020204"/>
              </a:rPr>
              <a:t>”</a:t>
            </a:r>
            <a:endParaRPr lang="en-US" sz="8820" dirty="0">
              <a:ln w="3175" cmpd="sng">
                <a:noFill/>
              </a:ln>
              <a:solidFill>
                <a:schemeClr val="accent1">
                  <a:lumMod val="60000"/>
                  <a:lumOff val="40000"/>
                </a:schemeClr>
              </a:solidFill>
              <a:latin typeface="Arial" panose="020B0604020202020204"/>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tx1">
                    <a:lumMod val="75000"/>
                    <a:lumOff val="25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6" name="Date Placeholder 3"/>
          <p:cNvSpPr>
            <a:spLocks noGrp="1"/>
          </p:cNvSpPr>
          <p:nvPr>
            <p:ph type="dt" sz="half" idx="14"/>
          </p:nvPr>
        </p:nvSpPr>
        <p:spPr/>
        <p:txBody>
          <a:bodyPr/>
          <a:lstStyle>
            <a:lvl1pPr>
              <a:defRPr/>
            </a:lvl1pPr>
          </a:lstStyle>
          <a:p>
            <a:pPr>
              <a:defRPr/>
            </a:pPr>
            <a:fld id="{792E2F2F-F370-45D6-B1B4-829BCD33F4B7}" type="datetimeFigureOut">
              <a:rPr lang="en-US"/>
            </a:fld>
            <a:endParaRPr lang="en-US" dirty="0"/>
          </a:p>
        </p:txBody>
      </p:sp>
      <p:sp>
        <p:nvSpPr>
          <p:cNvPr id="7" name="Footer Placeholder 4"/>
          <p:cNvSpPr>
            <a:spLocks noGrp="1"/>
          </p:cNvSpPr>
          <p:nvPr>
            <p:ph type="ftr" sz="quarter" idx="15"/>
          </p:nvPr>
        </p:nvSpPr>
        <p:spPr/>
        <p:txBody>
          <a:bodyPr/>
          <a:lstStyle>
            <a:lvl1pPr>
              <a:defRPr/>
            </a:lvl1pPr>
          </a:lstStyle>
          <a:p>
            <a:pPr>
              <a:defRPr/>
            </a:pPr>
            <a:endParaRPr lang="en-US"/>
          </a:p>
        </p:txBody>
      </p:sp>
      <p:sp>
        <p:nvSpPr>
          <p:cNvPr id="8" name="Slide Number Placeholder 5"/>
          <p:cNvSpPr>
            <a:spLocks noGrp="1"/>
          </p:cNvSpPr>
          <p:nvPr>
            <p:ph type="sldNum" sz="quarter" idx="16"/>
          </p:nvPr>
        </p:nvSpPr>
        <p:spPr/>
        <p:txBody>
          <a:bodyPr/>
          <a:lstStyle>
            <a:lvl1pPr>
              <a:defRPr/>
            </a:lvl1pPr>
          </a:lstStyle>
          <a:p>
            <a:pPr>
              <a:defRPr/>
            </a:pPr>
            <a:fld id="{E9A49794-A713-41DB-A247-E2A43B96D552}" type="slidenum">
              <a:rPr lang="en-US"/>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accent1"/>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4"/>
          </p:nvPr>
        </p:nvSpPr>
        <p:spPr/>
        <p:txBody>
          <a:bodyPr/>
          <a:lstStyle>
            <a:lvl1pPr>
              <a:defRPr/>
            </a:lvl1pPr>
          </a:lstStyle>
          <a:p>
            <a:pPr>
              <a:defRPr/>
            </a:pPr>
            <a:fld id="{6ACE79B4-B91B-43A5-9A95-A551C348311F}" type="datetimeFigureOut">
              <a:rPr lang="en-US"/>
            </a:fld>
            <a:endParaRPr lang="en-US" dirty="0"/>
          </a:p>
        </p:txBody>
      </p:sp>
      <p:sp>
        <p:nvSpPr>
          <p:cNvPr id="5" name="Footer Placeholder 4"/>
          <p:cNvSpPr>
            <a:spLocks noGrp="1"/>
          </p:cNvSpPr>
          <p:nvPr>
            <p:ph type="ftr" sz="quarter" idx="15"/>
          </p:nvPr>
        </p:nvSpPr>
        <p:spPr/>
        <p:txBody>
          <a:bodyPr/>
          <a:lstStyle>
            <a:lvl1pPr>
              <a:defRPr/>
            </a:lvl1pPr>
          </a:lstStyle>
          <a:p>
            <a:pPr>
              <a:defRPr/>
            </a:pPr>
            <a:endParaRPr lang="en-US"/>
          </a:p>
        </p:txBody>
      </p:sp>
      <p:sp>
        <p:nvSpPr>
          <p:cNvPr id="6" name="Slide Number Placeholder 5"/>
          <p:cNvSpPr>
            <a:spLocks noGrp="1"/>
          </p:cNvSpPr>
          <p:nvPr>
            <p:ph type="sldNum" sz="quarter" idx="16"/>
          </p:nvPr>
        </p:nvSpPr>
        <p:spPr/>
        <p:txBody>
          <a:bodyPr/>
          <a:lstStyle>
            <a:lvl1pPr>
              <a:defRPr/>
            </a:lvl1pPr>
          </a:lstStyle>
          <a:p>
            <a:pPr>
              <a:defRPr/>
            </a:pPr>
            <a:fld id="{EA2B04F3-53B6-455A-80D8-3A1E6D3A59E3}" type="slidenum">
              <a:rPr lang="en-US"/>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9458387-0BBC-444E-8D5A-64ACD979F520}"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B2ED85A-E562-4A55-96DC-6B199C331910}" type="slidenum">
              <a:rPr lang="en-US"/>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E5027FE-D9EC-4A42-B930-8989145792AE}"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517CB48-C39E-42E6-A1E8-38CE1FF83C31}" type="slidenum">
              <a:rPr lang="en-US"/>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p:cNvGrpSpPr/>
          <p:nvPr/>
        </p:nvGrpSpPr>
        <p:grpSpPr bwMode="auto">
          <a:xfrm>
            <a:off x="-9525" y="-9525"/>
            <a:ext cx="10110788" cy="7578725"/>
            <a:chOff x="-8467" y="-8468"/>
            <a:chExt cx="9171317" cy="6874935"/>
          </a:xfrm>
        </p:grpSpPr>
        <p:sp>
          <p:nvSpPr>
            <p:cNvPr id="7" name="Freeform 6"/>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title style</a:t>
            </a:r>
            <a:endParaRPr lang="en-US" altLang="en-US"/>
          </a:p>
        </p:txBody>
      </p:sp>
      <p:sp>
        <p:nvSpPr>
          <p:cNvPr id="1028" name="Text Placeholder 2"/>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tx1">
                    <a:tint val="75000"/>
                  </a:schemeClr>
                </a:solidFill>
                <a:latin typeface="+mn-lt"/>
              </a:defRPr>
            </a:lvl1pPr>
          </a:lstStyle>
          <a:p>
            <a:pPr>
              <a:defRPr/>
            </a:pPr>
            <a:fld id="{87122DC3-B16D-4B85-83B8-2296AED8943E}" type="datetimeFigureOut">
              <a:rPr lang="en-US"/>
            </a:fld>
            <a:endParaRPr lang="en-US" dirty="0"/>
          </a:p>
        </p:txBody>
      </p:sp>
      <p:sp>
        <p:nvSpPr>
          <p:cNvPr id="5" name="Footer Placeholder 4"/>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accent1"/>
                </a:solidFill>
                <a:latin typeface="+mn-lt"/>
              </a:defRPr>
            </a:lvl1pPr>
          </a:lstStyle>
          <a:p>
            <a:pPr>
              <a:defRPr/>
            </a:pPr>
            <a:fld id="{9573D1FD-8C91-4E18-9690-D3EE171969F8}" type="slidenum">
              <a:rPr lang="en-US"/>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503555" rtl="0" eaLnBrk="0" fontAlgn="base" hangingPunct="0">
        <a:spcBef>
          <a:spcPct val="0"/>
        </a:spcBef>
        <a:spcAft>
          <a:spcPct val="0"/>
        </a:spcAft>
        <a:defRPr sz="3900" kern="1200">
          <a:solidFill>
            <a:schemeClr val="accent1"/>
          </a:solidFill>
          <a:latin typeface="+mj-lt"/>
          <a:ea typeface="+mj-ea"/>
          <a:cs typeface="+mj-cs"/>
        </a:defRPr>
      </a:lvl1pPr>
      <a:lvl2pPr algn="l" defTabSz="503555"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555"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555"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555"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775" indent="-252095" algn="l" defTabSz="504190" rtl="0" eaLnBrk="1" latinLnBrk="0" hangingPunct="1">
        <a:spcBef>
          <a:spcPts val="1100"/>
        </a:spcBef>
        <a:spcAft>
          <a:spcPts val="0"/>
        </a:spcAft>
        <a:buClr>
          <a:schemeClr val="accent1"/>
        </a:buClr>
        <a:buSzPct val="80000"/>
        <a:buFont typeface="Wingdings 3" panose="05040102010807070707" pitchFamily="18" charset="2"/>
        <a:buChar char=""/>
        <a:defRPr sz="1325" kern="1200">
          <a:solidFill>
            <a:schemeClr val="tx1">
              <a:lumMod val="75000"/>
              <a:lumOff val="25000"/>
            </a:schemeClr>
          </a:solidFill>
          <a:latin typeface="+mn-lt"/>
          <a:ea typeface="+mn-ea"/>
          <a:cs typeface="+mn-cs"/>
        </a:defRPr>
      </a:lvl6pPr>
      <a:lvl7pPr marL="3275965" indent="-252095" algn="l" defTabSz="504190" rtl="0" eaLnBrk="1" latinLnBrk="0" hangingPunct="1">
        <a:spcBef>
          <a:spcPts val="1100"/>
        </a:spcBef>
        <a:spcAft>
          <a:spcPts val="0"/>
        </a:spcAft>
        <a:buClr>
          <a:schemeClr val="accent1"/>
        </a:buClr>
        <a:buSzPct val="80000"/>
        <a:buFont typeface="Wingdings 3" panose="05040102010807070707" pitchFamily="18" charset="2"/>
        <a:buChar char=""/>
        <a:defRPr sz="1325" kern="1200">
          <a:solidFill>
            <a:schemeClr val="tx1">
              <a:lumMod val="75000"/>
              <a:lumOff val="25000"/>
            </a:schemeClr>
          </a:solidFill>
          <a:latin typeface="+mn-lt"/>
          <a:ea typeface="+mn-ea"/>
          <a:cs typeface="+mn-cs"/>
        </a:defRPr>
      </a:lvl7pPr>
      <a:lvl8pPr marL="3779520" indent="-252095" algn="l" defTabSz="504190" rtl="0" eaLnBrk="1" latinLnBrk="0" hangingPunct="1">
        <a:spcBef>
          <a:spcPts val="1100"/>
        </a:spcBef>
        <a:spcAft>
          <a:spcPts val="0"/>
        </a:spcAft>
        <a:buClr>
          <a:schemeClr val="accent1"/>
        </a:buClr>
        <a:buSzPct val="80000"/>
        <a:buFont typeface="Wingdings 3" panose="05040102010807070707" pitchFamily="18" charset="2"/>
        <a:buChar char=""/>
        <a:defRPr sz="1325" kern="1200">
          <a:solidFill>
            <a:schemeClr val="tx1">
              <a:lumMod val="75000"/>
              <a:lumOff val="25000"/>
            </a:schemeClr>
          </a:solidFill>
          <a:latin typeface="+mn-lt"/>
          <a:ea typeface="+mn-ea"/>
          <a:cs typeface="+mn-cs"/>
        </a:defRPr>
      </a:lvl8pPr>
      <a:lvl9pPr marL="4283710" indent="-252095" algn="l" defTabSz="504190" rtl="0" eaLnBrk="1" latinLnBrk="0" hangingPunct="1">
        <a:spcBef>
          <a:spcPts val="1100"/>
        </a:spcBef>
        <a:spcAft>
          <a:spcPts val="0"/>
        </a:spcAft>
        <a:buClr>
          <a:schemeClr val="accent1"/>
        </a:buClr>
        <a:buSzPct val="80000"/>
        <a:buFont typeface="Wingdings 3" panose="05040102010807070707" pitchFamily="18" charset="2"/>
        <a:buChar char=""/>
        <a:defRPr sz="1325" kern="1200">
          <a:solidFill>
            <a:schemeClr val="tx1">
              <a:lumMod val="75000"/>
              <a:lumOff val="25000"/>
            </a:schemeClr>
          </a:solidFill>
          <a:latin typeface="+mn-lt"/>
          <a:ea typeface="+mn-ea"/>
          <a:cs typeface="+mn-cs"/>
        </a:defRPr>
      </a:lvl9pPr>
    </p:bodyStyle>
    <p:otherStyle>
      <a:defPPr>
        <a:defRPr lang="en-US"/>
      </a:defPPr>
      <a:lvl1pPr marL="0" algn="l" defTabSz="504190" rtl="0" eaLnBrk="1" latinLnBrk="0" hangingPunct="1">
        <a:defRPr sz="1985" kern="1200">
          <a:solidFill>
            <a:schemeClr val="tx1"/>
          </a:solidFill>
          <a:latin typeface="+mn-lt"/>
          <a:ea typeface="+mn-ea"/>
          <a:cs typeface="+mn-cs"/>
        </a:defRPr>
      </a:lvl1pPr>
      <a:lvl2pPr marL="504190" algn="l" defTabSz="504190" rtl="0" eaLnBrk="1" latinLnBrk="0" hangingPunct="1">
        <a:defRPr sz="1985" kern="1200">
          <a:solidFill>
            <a:schemeClr val="tx1"/>
          </a:solidFill>
          <a:latin typeface="+mn-lt"/>
          <a:ea typeface="+mn-ea"/>
          <a:cs typeface="+mn-cs"/>
        </a:defRPr>
      </a:lvl2pPr>
      <a:lvl3pPr marL="1007745" algn="l" defTabSz="504190" rtl="0" eaLnBrk="1" latinLnBrk="0" hangingPunct="1">
        <a:defRPr sz="1985" kern="1200">
          <a:solidFill>
            <a:schemeClr val="tx1"/>
          </a:solidFill>
          <a:latin typeface="+mn-lt"/>
          <a:ea typeface="+mn-ea"/>
          <a:cs typeface="+mn-cs"/>
        </a:defRPr>
      </a:lvl3pPr>
      <a:lvl4pPr marL="1511935" algn="l" defTabSz="504190" rtl="0" eaLnBrk="1" latinLnBrk="0" hangingPunct="1">
        <a:defRPr sz="1985" kern="1200">
          <a:solidFill>
            <a:schemeClr val="tx1"/>
          </a:solidFill>
          <a:latin typeface="+mn-lt"/>
          <a:ea typeface="+mn-ea"/>
          <a:cs typeface="+mn-cs"/>
        </a:defRPr>
      </a:lvl4pPr>
      <a:lvl5pPr marL="2016125" algn="l" defTabSz="504190" rtl="0" eaLnBrk="1" latinLnBrk="0" hangingPunct="1">
        <a:defRPr sz="1985" kern="1200">
          <a:solidFill>
            <a:schemeClr val="tx1"/>
          </a:solidFill>
          <a:latin typeface="+mn-lt"/>
          <a:ea typeface="+mn-ea"/>
          <a:cs typeface="+mn-cs"/>
        </a:defRPr>
      </a:lvl5pPr>
      <a:lvl6pPr marL="2519680" algn="l" defTabSz="504190" rtl="0" eaLnBrk="1" latinLnBrk="0" hangingPunct="1">
        <a:defRPr sz="1985" kern="1200">
          <a:solidFill>
            <a:schemeClr val="tx1"/>
          </a:solidFill>
          <a:latin typeface="+mn-lt"/>
          <a:ea typeface="+mn-ea"/>
          <a:cs typeface="+mn-cs"/>
        </a:defRPr>
      </a:lvl6pPr>
      <a:lvl7pPr marL="3023870" algn="l" defTabSz="504190" rtl="0" eaLnBrk="1" latinLnBrk="0" hangingPunct="1">
        <a:defRPr sz="1985" kern="1200">
          <a:solidFill>
            <a:schemeClr val="tx1"/>
          </a:solidFill>
          <a:latin typeface="+mn-lt"/>
          <a:ea typeface="+mn-ea"/>
          <a:cs typeface="+mn-cs"/>
        </a:defRPr>
      </a:lvl7pPr>
      <a:lvl8pPr marL="3528060" algn="l" defTabSz="504190" rtl="0" eaLnBrk="1" latinLnBrk="0" hangingPunct="1">
        <a:defRPr sz="1985" kern="1200">
          <a:solidFill>
            <a:schemeClr val="tx1"/>
          </a:solidFill>
          <a:latin typeface="+mn-lt"/>
          <a:ea typeface="+mn-ea"/>
          <a:cs typeface="+mn-cs"/>
        </a:defRPr>
      </a:lvl8pPr>
      <a:lvl9pPr marL="4031615" algn="l" defTabSz="504190" rtl="0" eaLnBrk="1" latinLnBrk="0" hangingPunct="1">
        <a:defRPr sz="19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hyperlink" Target="https://link.springer.com/article/10.1007/s41060-024-00554-5?utm_source=chatgpt.com" TargetMode="External"/><Relationship Id="rId4" Type="http://schemas.openxmlformats.org/officeDocument/2006/relationships/hyperlink" Target="https://arxiv.org/abs/1812.09873" TargetMode="External"/><Relationship Id="rId3" Type="http://schemas.openxmlformats.org/officeDocument/2006/relationships/hyperlink" Target="https://arxiv.org/abs/2112.10938" TargetMode="External"/><Relationship Id="rId2" Type="http://schemas.openxmlformats.org/officeDocument/2006/relationships/hyperlink" Target="https://arxiv.org/abs/2107.01766" TargetMode="External"/><Relationship Id="rId1" Type="http://schemas.openxmlformats.org/officeDocument/2006/relationships/hyperlink" Target="https://doi.org/10.1016/j.advengsoft.2022.103252"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endPar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Straight Connector 2"/>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819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3600" y="179388"/>
            <a:ext cx="77057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1"/>
          <p:cNvSpPr txBox="1">
            <a:spLocks noChangeArrowheads="1"/>
          </p:cNvSpPr>
          <p:nvPr/>
        </p:nvSpPr>
        <p:spPr bwMode="auto">
          <a:xfrm>
            <a:off x="647700" y="2916238"/>
            <a:ext cx="8569325" cy="5150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Theme: AI-Driven Developer Intelligence</a:t>
            </a:r>
            <a:endParaRPr lang="en-IN" sz="2400" b="1"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Category: Software</a:t>
            </a:r>
            <a:endParaRPr lang="en-IN" sz="2400" b="1" dirty="0">
              <a:latin typeface="Times New Roman" panose="02020603050405020304" pitchFamily="18" charset="0"/>
              <a:cs typeface="Times New Roman" panose="02020603050405020304" pitchFamily="18" charset="0"/>
            </a:endParaRPr>
          </a:p>
          <a:p>
            <a:pPr algn="just">
              <a:lnSpc>
                <a:spcPct val="20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Group No -03</a:t>
            </a:r>
            <a:endParaRPr lang="en-US" altLang="en-US" sz="2400" b="1"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Group Members: Onkar Deshmukh, Prathamesh Kolhe, Bhavika Kadam, Soham Jathar                                                                                                             </a:t>
            </a:r>
            <a:endParaRPr lang="en-IN" sz="2400" b="1"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Guide: Prof. Vijesh Nair</a:t>
            </a:r>
            <a:endParaRPr lang="en-IN" sz="2400" b="1" dirty="0">
              <a:latin typeface="Times New Roman" panose="02020603050405020304" pitchFamily="18" charset="0"/>
              <a:cs typeface="Times New Roman" panose="02020603050405020304" pitchFamily="18" charset="0"/>
            </a:endParaRPr>
          </a:p>
          <a:p>
            <a:pPr algn="just">
              <a:lnSpc>
                <a:spcPct val="200000"/>
              </a:lnSpc>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p:txBody>
      </p:sp>
      <p:sp>
        <p:nvSpPr>
          <p:cNvPr id="4" name="Title 7"/>
          <p:cNvSpPr txBox="1"/>
          <p:nvPr/>
        </p:nvSpPr>
        <p:spPr bwMode="auto">
          <a:xfrm>
            <a:off x="1116013" y="2044700"/>
            <a:ext cx="7200900" cy="571500"/>
          </a:xfrm>
          <a:prstGeom prst="rect">
            <a:avLst/>
          </a:prstGeom>
          <a:noFill/>
          <a:ln>
            <a:noFill/>
          </a:ln>
        </p:spPr>
        <p:txBody>
          <a:bodyPr>
            <a:normAutofit fontScale="25000" lnSpcReduction="20000"/>
          </a:bodyPr>
          <a:lstStyle>
            <a:lvl1pPr algn="l" defTabSz="503555" rtl="0" eaLnBrk="0" fontAlgn="base" hangingPunct="0">
              <a:spcBef>
                <a:spcPct val="0"/>
              </a:spcBef>
              <a:spcAft>
                <a:spcPct val="0"/>
              </a:spcAft>
              <a:defRPr sz="3970" kern="1200">
                <a:solidFill>
                  <a:schemeClr val="accent1"/>
                </a:solidFill>
                <a:latin typeface="+mj-lt"/>
                <a:ea typeface="+mj-ea"/>
                <a:cs typeface="+mj-cs"/>
              </a:defRPr>
            </a:lvl1pPr>
            <a:lvl2pPr algn="l" defTabSz="503555"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555"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555"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555"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r>
              <a:rPr lang="en-IN" sz="2400" dirty="0">
                <a:latin typeface="Times New Roman" panose="02020603050405020304" pitchFamily="18" charset="0"/>
                <a:cs typeface="Times New Roman" panose="02020603050405020304" pitchFamily="18" charset="0"/>
              </a:rPr>
              <a:t>	</a:t>
            </a:r>
            <a:br>
              <a:rPr lang="en-IN" sz="2400" dirty="0">
                <a:latin typeface="Times New Roman" panose="02020603050405020304" pitchFamily="18" charset="0"/>
                <a:cs typeface="Times New Roman" panose="02020603050405020304" pitchFamily="18" charset="0"/>
              </a:rPr>
            </a:br>
            <a:r>
              <a:rPr lang="en-IN" sz="1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Coding Projects Folder Analyzer</a:t>
            </a:r>
            <a:endParaRPr lang="en-IN" sz="1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defRPr/>
            </a:pPr>
            <a:endParaRPr lang="en-IN" sz="14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ChangeArrowheads="1"/>
          </p:cNvSpPr>
          <p:nvPr/>
        </p:nvSpPr>
        <p:spPr bwMode="auto">
          <a:xfrm>
            <a:off x="504825" y="144463"/>
            <a:ext cx="9070975"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Outline</a:t>
            </a:r>
            <a:endParaRPr lang="en-IN" altLang="en-US" sz="3600" b="1">
              <a:solidFill>
                <a:srgbClr val="000000"/>
              </a:solidFill>
              <a:latin typeface="Times New Roman" panose="02020603050405020304" pitchFamily="18" charset="0"/>
              <a:cs typeface="DejaVu Sans" charset="0"/>
            </a:endParaRPr>
          </a:p>
        </p:txBody>
      </p:sp>
      <p:sp>
        <p:nvSpPr>
          <p:cNvPr id="10243" name="Rectangle 2"/>
          <p:cNvSpPr>
            <a:spLocks noChangeArrowheads="1"/>
          </p:cNvSpPr>
          <p:nvPr/>
        </p:nvSpPr>
        <p:spPr bwMode="auto">
          <a:xfrm>
            <a:off x="504825" y="990600"/>
            <a:ext cx="9323388" cy="6318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1240" rIns="0" bIns="0"/>
          <a:lstStyle>
            <a:lvl1pPr marL="430530" indent="-32258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algn="just">
              <a:lnSpc>
                <a:spcPct val="150000"/>
              </a:lnSpc>
              <a:buFont typeface="Wingdings" panose="05000000000000000000" pitchFamily="2" charset="2"/>
              <a:buChar char="§"/>
            </a:pPr>
            <a:r>
              <a:rPr lang="en-IN" altLang="en-US" sz="2400">
                <a:latin typeface="Times New Roman" panose="02020603050405020304" pitchFamily="18" charset="0"/>
                <a:cs typeface="Times New Roman" panose="02020603050405020304" pitchFamily="18" charset="0"/>
              </a:rPr>
              <a:t>Introduction</a:t>
            </a:r>
            <a:endParaRPr lang="en-IN"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IN" altLang="en-US" sz="2400">
                <a:latin typeface="Times New Roman" panose="02020603050405020304" pitchFamily="18" charset="0"/>
                <a:cs typeface="Times New Roman" panose="02020603050405020304" pitchFamily="18" charset="0"/>
              </a:rPr>
              <a:t>Literature Survey</a:t>
            </a:r>
            <a:endParaRPr lang="en-IN"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IN" altLang="en-US" sz="2400">
                <a:latin typeface="Times New Roman" panose="02020603050405020304" pitchFamily="18" charset="0"/>
                <a:cs typeface="Times New Roman" panose="02020603050405020304" pitchFamily="18" charset="0"/>
              </a:rPr>
              <a:t>Limitations of  existing systems</a:t>
            </a:r>
            <a:endParaRPr lang="en-IN"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IN" altLang="en-US" sz="2400">
                <a:latin typeface="Times New Roman" panose="02020603050405020304" pitchFamily="18" charset="0"/>
                <a:cs typeface="Times New Roman" panose="02020603050405020304" pitchFamily="18" charset="0"/>
              </a:rPr>
              <a:t>Problem statement and Objectives</a:t>
            </a:r>
            <a:endParaRPr lang="en-IN"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altLang="en-US" sz="2400">
                <a:latin typeface="Times New Roman" panose="02020603050405020304" pitchFamily="18" charset="0"/>
                <a:cs typeface="Times New Roman" panose="02020603050405020304" pitchFamily="18" charset="0"/>
              </a:rPr>
              <a:t>Proposed Methodology </a:t>
            </a:r>
            <a:endParaRPr lang="en-US"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altLang="en-US" sz="2400">
                <a:latin typeface="Times New Roman" panose="02020603050405020304" pitchFamily="18" charset="0"/>
                <a:cs typeface="Times New Roman" panose="02020603050405020304" pitchFamily="18" charset="0"/>
              </a:rPr>
              <a:t>Experimental Setup</a:t>
            </a:r>
            <a:endParaRPr lang="en-US"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altLang="en-US" sz="2400">
                <a:latin typeface="Times New Roman" panose="02020603050405020304" pitchFamily="18" charset="0"/>
                <a:cs typeface="Times New Roman" panose="02020603050405020304" pitchFamily="18" charset="0"/>
              </a:rPr>
              <a:t>Implementation</a:t>
            </a:r>
            <a:endParaRPr lang="en-US"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altLang="en-US" sz="2400">
                <a:latin typeface="Times New Roman" panose="02020603050405020304" pitchFamily="18" charset="0"/>
                <a:cs typeface="Times New Roman" panose="02020603050405020304" pitchFamily="18" charset="0"/>
              </a:rPr>
              <a:t>Results &amp; Analysis</a:t>
            </a:r>
            <a:endParaRPr lang="en-US"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altLang="en-US" sz="2400">
                <a:latin typeface="Times New Roman" panose="02020603050405020304" pitchFamily="18" charset="0"/>
                <a:cs typeface="Times New Roman" panose="02020603050405020304" pitchFamily="18" charset="0"/>
              </a:rPr>
              <a:t>Conclusion and Future work</a:t>
            </a:r>
            <a:endParaRPr lang="en-US" altLang="en-US" sz="240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IN" altLang="en-US" sz="2400">
                <a:latin typeface="Times New Roman" panose="02020603050405020304" pitchFamily="18" charset="0"/>
                <a:cs typeface="Times New Roman" panose="02020603050405020304" pitchFamily="18" charset="0"/>
              </a:rPr>
              <a:t>References</a:t>
            </a:r>
            <a:endParaRPr lang="en-IN" altLang="en-US" sz="240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792163" y="179388"/>
            <a:ext cx="9070975" cy="1262062"/>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2" name="Content Placeholder 2"/>
          <p:cNvSpPr txBox="1"/>
          <p:nvPr/>
        </p:nvSpPr>
        <p:spPr bwMode="auto">
          <a:xfrm>
            <a:off x="412750" y="1628775"/>
            <a:ext cx="9251950" cy="5535613"/>
          </a:xfrm>
          <a:prstGeom prst="rect">
            <a:avLst/>
          </a:prstGeom>
          <a:noFill/>
          <a:ln>
            <a:noFill/>
          </a:ln>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defTabSz="914400">
              <a:buNone/>
              <a:defRPr/>
            </a:pPr>
            <a:r>
              <a:rPr lang="en-US" sz="2400" dirty="0">
                <a:latin typeface="Times New Roman" panose="02020603050405020304" pitchFamily="18" charset="0"/>
                <a:cs typeface="Times New Roman" panose="02020603050405020304" pitchFamily="18" charset="0"/>
              </a:rPr>
              <a:t>A Coding Projects Folder Analyzer is a tool designed to examine and evaluate the structure and contents of a coding project directory. It scans all files and subfolders within a project to provide insights into organization, file types, code distribution, dependencies, and overall project structure.</a:t>
            </a:r>
            <a:endParaRPr lang="en-US" sz="2400" dirty="0">
              <a:latin typeface="Times New Roman" panose="02020603050405020304" pitchFamily="18" charset="0"/>
              <a:cs typeface="Times New Roman" panose="02020603050405020304" pitchFamily="18" charset="0"/>
            </a:endParaRPr>
          </a:p>
          <a:p>
            <a:pPr marL="0" indent="0" algn="just" defTabSz="914400">
              <a:buNone/>
              <a:defRPr/>
            </a:pPr>
            <a:endParaRPr lang="en-US" altLang="en-US" sz="2400" dirty="0">
              <a:solidFill>
                <a:sysClr val="windowText" lastClr="000000"/>
              </a:solidFill>
              <a:latin typeface="Times New Roman" panose="02020603050405020304" pitchFamily="18" charset="0"/>
              <a:cs typeface="Times New Roman" panose="02020603050405020304" pitchFamily="18" charset="0"/>
            </a:endParaRPr>
          </a:p>
          <a:p>
            <a:pPr marL="0" indent="0" algn="just" defTabSz="914400">
              <a:buNone/>
              <a:defRPr/>
            </a:pPr>
            <a:r>
              <a:rPr lang="en-US" sz="2400" dirty="0">
                <a:latin typeface="Times New Roman" panose="02020603050405020304" pitchFamily="18" charset="0"/>
                <a:cs typeface="Times New Roman" panose="02020603050405020304" pitchFamily="18" charset="0"/>
              </a:rPr>
              <a:t>This type of analyzer helps developers understand how a project is organized, detect unused or duplicate files, identify missing documentation, and ensure consistent folder naming conventions. It can also generate summary reports highlighting metrics such as total lines of code, number of files by language, and folder hierarchy. Overall, a Coding Projects Folder Analyzer improves project clarity, maintainability, and efficient collaboration.</a:t>
            </a:r>
            <a:endParaRPr lang="en-US" sz="2400" dirty="0">
              <a:latin typeface="Times New Roman" panose="02020603050405020304" pitchFamily="18" charset="0"/>
              <a:cs typeface="Times New Roman" panose="02020603050405020304" pitchFamily="18" charset="0"/>
            </a:endParaRPr>
          </a:p>
          <a:p>
            <a:pPr marL="0" indent="0" defTabSz="914400">
              <a:buNone/>
              <a:defRPr/>
            </a:pPr>
            <a:endParaRPr lang="en-US" altLang="en-US" sz="2400" dirty="0">
              <a:solidFill>
                <a:sysClr val="windowText" lastClr="000000"/>
              </a:solidFill>
              <a:latin typeface="Times New Roman" panose="02020603050405020304" pitchFamily="18" charset="0"/>
              <a:cs typeface="Times New Roman" panose="02020603050405020304" pitchFamily="18" charset="0"/>
            </a:endParaRPr>
          </a:p>
          <a:p>
            <a:pPr marL="0" indent="0" defTabSz="914400">
              <a:buNone/>
              <a:defRPr/>
            </a:pPr>
            <a:endParaRPr lang="en-US" altLang="en-US" sz="2400" dirty="0">
              <a:solidFill>
                <a:sysClr val="windowText" lastClr="000000"/>
              </a:solidFill>
              <a:latin typeface="Times New Roman" panose="02020603050405020304" pitchFamily="18" charset="0"/>
              <a:cs typeface="Times New Roman" panose="02020603050405020304" pitchFamily="18" charset="0"/>
            </a:endParaRPr>
          </a:p>
          <a:p>
            <a:pPr marL="0" indent="0" defTabSz="914400">
              <a:buNone/>
              <a:defRPr/>
            </a:pPr>
            <a:endParaRPr lang="en-US" altLang="en-US" sz="2400" dirty="0">
              <a:solidFill>
                <a:sysClr val="windowText" lastClr="000000"/>
              </a:solidFill>
              <a:latin typeface="Times New Roman" panose="02020603050405020304" pitchFamily="18" charset="0"/>
              <a:cs typeface="Times New Roman" panose="02020603050405020304" pitchFamily="18" charset="0"/>
            </a:endParaRPr>
          </a:p>
          <a:p>
            <a:pPr marL="0" indent="0" defTabSz="914400">
              <a:buNone/>
              <a:defRPr/>
            </a:pPr>
            <a:endParaRPr lang="en-US" altLang="en-US" sz="2400" dirty="0">
              <a:solidFill>
                <a:sysClr val="windowText" lastClr="000000"/>
              </a:solidFill>
              <a:latin typeface="Times New Roman" panose="02020603050405020304" pitchFamily="18" charset="0"/>
              <a:cs typeface="Times New Roman" panose="02020603050405020304" pitchFamily="18" charset="0"/>
            </a:endParaRPr>
          </a:p>
          <a:p>
            <a:pPr marL="0" indent="0" defTabSz="914400">
              <a:buNone/>
              <a:defRPr/>
            </a:pPr>
            <a:endParaRPr lang="en-US" altLang="en-US" sz="2400" dirty="0">
              <a:solidFill>
                <a:sysClr val="windowText" lastClr="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Literature Survey </a:t>
            </a: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18435" name="Rectangle 2"/>
          <p:cNvSpPr>
            <a:spLocks noChangeArrowheads="1"/>
          </p:cNvSpPr>
          <p:nvPr/>
        </p:nvSpPr>
        <p:spPr bwMode="auto">
          <a:xfrm>
            <a:off x="503238" y="1768475"/>
            <a:ext cx="9070975" cy="4989513"/>
          </a:xfrm>
          <a:prstGeom prst="rect">
            <a:avLst/>
          </a:prstGeom>
          <a:noFill/>
          <a:ln>
            <a:noFill/>
          </a:ln>
        </p:spPr>
        <p:txBody>
          <a:bodyPr lIns="0" tIns="21240" rIns="0" bIns="0"/>
          <a:lstStyle>
            <a:lvl1pPr marL="1079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marL="342900" indent="-342900" algn="just" defTabSz="914400">
              <a:spcBef>
                <a:spcPct val="20000"/>
              </a:spcBef>
              <a:buFont typeface="Arial" panose="020B0604020202020204" pitchFamily="34" charset="0"/>
              <a:buChar char="•"/>
              <a:defRPr/>
            </a:pPr>
            <a:endParaRPr lang="en-US" altLang="en-US" sz="2400" dirty="0">
              <a:solidFill>
                <a:prstClr val="black"/>
              </a:solidFill>
              <a:latin typeface="Times New Roman" panose="02020603050405020304" pitchFamily="18" charset="0"/>
              <a:cs typeface="Times New Roman" panose="02020603050405020304" pitchFamily="18" charset="0"/>
            </a:endParaRPr>
          </a:p>
          <a:p>
            <a:pPr eaLnBrk="1" hangingPunct="1">
              <a:lnSpc>
                <a:spcPct val="93000"/>
              </a:lnSpc>
              <a:spcAft>
                <a:spcPts val="1415"/>
              </a:spcAft>
              <a:defRPr/>
            </a:pPr>
            <a:r>
              <a:rPr lang="en-IN" altLang="en-US" sz="3600" i="1" dirty="0">
                <a:solidFill>
                  <a:srgbClr val="FF0000"/>
                </a:solidFill>
                <a:latin typeface="Times New Roman" panose="02020603050405020304" pitchFamily="18" charset="0"/>
                <a:cs typeface="Times New Roman" panose="02020603050405020304" pitchFamily="18" charset="0"/>
              </a:rPr>
              <a:t>		</a:t>
            </a:r>
            <a:endParaRPr lang="en-IN" altLang="en-US" sz="3600" dirty="0">
              <a:solidFill>
                <a:srgbClr val="000000"/>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503238" y="1475582"/>
          <a:ext cx="8857556" cy="5776072"/>
        </p:xfrm>
        <a:graphic>
          <a:graphicData uri="http://schemas.openxmlformats.org/drawingml/2006/table">
            <a:tbl>
              <a:tblPr/>
              <a:tblGrid>
                <a:gridCol w="2214389"/>
                <a:gridCol w="2214389"/>
                <a:gridCol w="2214389"/>
                <a:gridCol w="2214389"/>
              </a:tblGrid>
              <a:tr h="166245">
                <a:tc>
                  <a:txBody>
                    <a:bodyPr/>
                    <a:lstStyle/>
                    <a:p>
                      <a:pPr algn="l">
                        <a:buNone/>
                      </a:pPr>
                      <a:r>
                        <a:rPr lang="en-IN" sz="1700" b="1">
                          <a:latin typeface="Times New Roman" panose="02020603050405020304" pitchFamily="18" charset="0"/>
                          <a:cs typeface="Times New Roman" panose="02020603050405020304" pitchFamily="18" charset="0"/>
                        </a:rPr>
                        <a:t>Author &amp; Year</a:t>
                      </a:r>
                      <a:endParaRPr lang="en-IN" sz="1700" b="1">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700" b="1">
                          <a:latin typeface="Times New Roman" panose="02020603050405020304" pitchFamily="18" charset="0"/>
                          <a:cs typeface="Times New Roman" panose="02020603050405020304" pitchFamily="18" charset="0"/>
                        </a:rPr>
                        <a:t>Techniques / Methods</a:t>
                      </a:r>
                      <a:endParaRPr lang="en-IN" sz="1700" b="1">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b="1">
                          <a:latin typeface="Times New Roman" panose="02020603050405020304" pitchFamily="18" charset="0"/>
                          <a:cs typeface="Times New Roman" panose="02020603050405020304" pitchFamily="18" charset="0"/>
                        </a:rPr>
                        <a:t>Key Points of the Paper</a:t>
                      </a:r>
                      <a:endParaRPr lang="en-US" sz="1700" b="1">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700" b="1" dirty="0">
                          <a:latin typeface="Times New Roman" panose="02020603050405020304" pitchFamily="18" charset="0"/>
                          <a:cs typeface="Times New Roman" panose="02020603050405020304" pitchFamily="18" charset="0"/>
                        </a:rPr>
                        <a:t>Limitations</a:t>
                      </a:r>
                      <a:endParaRPr lang="en-IN" sz="1700" b="1" dirty="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177115">
                <a:tc>
                  <a:txBody>
                    <a:bodyPr/>
                    <a:lstStyle/>
                    <a:p>
                      <a:pPr algn="l">
                        <a:buNone/>
                      </a:pPr>
                      <a:r>
                        <a:rPr lang="en-IN" sz="1700">
                          <a:latin typeface="Times New Roman" panose="02020603050405020304" pitchFamily="18" charset="0"/>
                          <a:cs typeface="Times New Roman" panose="02020603050405020304" pitchFamily="18" charset="0"/>
                        </a:rPr>
                        <a:t>Kaur &amp; Singh, 2024</a:t>
                      </a:r>
                      <a:endParaRPr lang="en-IN"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a:latin typeface="Times New Roman" panose="02020603050405020304" pitchFamily="18" charset="0"/>
                          <a:cs typeface="Times New Roman" panose="02020603050405020304" pitchFamily="18" charset="0"/>
                        </a:rPr>
                        <a:t>Structural pattern discovery, source code clustering</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dirty="0">
                          <a:latin typeface="Times New Roman" panose="02020603050405020304" pitchFamily="18" charset="0"/>
                          <a:cs typeface="Times New Roman" panose="02020603050405020304" pitchFamily="18" charset="0"/>
                        </a:rPr>
                        <a:t>Focuses on discovering architectural patterns and hidden dependencies in large codebases using clustering techniques. Helps reveal project structure automatically.</a:t>
                      </a:r>
                      <a:endParaRPr lang="en-US" sz="1700" dirty="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dirty="0">
                          <a:latin typeface="Times New Roman" panose="02020603050405020304" pitchFamily="18" charset="0"/>
                          <a:cs typeface="Times New Roman" panose="02020603050405020304" pitchFamily="18" charset="0"/>
                        </a:rPr>
                        <a:t>Research-oriented; lacks a practical, user-friendly tool for real developers. Limited visualization support.</a:t>
                      </a:r>
                      <a:endParaRPr lang="en-US" sz="1700" dirty="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32706">
                <a:tc>
                  <a:txBody>
                    <a:bodyPr/>
                    <a:lstStyle/>
                    <a:p>
                      <a:pPr algn="l">
                        <a:buNone/>
                      </a:pPr>
                      <a:r>
                        <a:rPr lang="en-IN" sz="1700">
                          <a:latin typeface="Times New Roman" panose="02020603050405020304" pitchFamily="18" charset="0"/>
                          <a:cs typeface="Times New Roman" panose="02020603050405020304" pitchFamily="18" charset="0"/>
                        </a:rPr>
                        <a:t>Bavota et al., 2022</a:t>
                      </a:r>
                      <a:endParaRPr lang="en-IN"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dirty="0">
                          <a:latin typeface="Times New Roman" panose="02020603050405020304" pitchFamily="18" charset="0"/>
                          <a:cs typeface="Times New Roman" panose="02020603050405020304" pitchFamily="18" charset="0"/>
                        </a:rPr>
                        <a:t>Module clustering, graph-based software comprehension</a:t>
                      </a:r>
                      <a:endParaRPr lang="en-US" sz="1700" dirty="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a:latin typeface="Times New Roman" panose="02020603050405020304" pitchFamily="18" charset="0"/>
                          <a:cs typeface="Times New Roman" panose="02020603050405020304" pitchFamily="18" charset="0"/>
                        </a:rPr>
                        <a:t>Uses clustering algorithms to improve understanding of complex software systems. Groups related modules to simplify architecture exploration.</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a:latin typeface="Times New Roman" panose="02020603050405020304" pitchFamily="18" charset="0"/>
                          <a:cs typeface="Times New Roman" panose="02020603050405020304" pitchFamily="18" charset="0"/>
                        </a:rPr>
                        <a:t>Focused only on clustering; does not provide AI explanation or real-time interactive visualization.</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88296">
                <a:tc>
                  <a:txBody>
                    <a:bodyPr/>
                    <a:lstStyle/>
                    <a:p>
                      <a:pPr algn="l">
                        <a:buNone/>
                      </a:pPr>
                      <a:r>
                        <a:rPr lang="en-IN" sz="1700">
                          <a:latin typeface="Times New Roman" panose="02020603050405020304" pitchFamily="18" charset="0"/>
                          <a:cs typeface="Times New Roman" panose="02020603050405020304" pitchFamily="18" charset="0"/>
                        </a:rPr>
                        <a:t>Alrashed &amp; Maletic, 2021</a:t>
                      </a:r>
                      <a:endParaRPr lang="en-IN"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700">
                          <a:latin typeface="Times New Roman" panose="02020603050405020304" pitchFamily="18" charset="0"/>
                          <a:cs typeface="Times New Roman" panose="02020603050405020304" pitchFamily="18" charset="0"/>
                        </a:rPr>
                        <a:t>Software visualization, remodularization techniques</a:t>
                      </a:r>
                      <a:endParaRPr lang="en-IN"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a:latin typeface="Times New Roman" panose="02020603050405020304" pitchFamily="18" charset="0"/>
                          <a:cs typeface="Times New Roman" panose="02020603050405020304" pitchFamily="18" charset="0"/>
                        </a:rPr>
                        <a:t>Introduces visual methods to explain software architecture and assist in restructuring projects for better maintainability.</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dirty="0">
                          <a:latin typeface="Times New Roman" panose="02020603050405020304" pitchFamily="18" charset="0"/>
                          <a:cs typeface="Times New Roman" panose="02020603050405020304" pitchFamily="18" charset="0"/>
                        </a:rPr>
                        <a:t>Requires expert knowledge to interpret results; not automated for beginner users.</a:t>
                      </a:r>
                      <a:endParaRPr lang="en-US" sz="1700" dirty="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71513" y="539477"/>
          <a:ext cx="8857556" cy="4852301"/>
        </p:xfrm>
        <a:graphic>
          <a:graphicData uri="http://schemas.openxmlformats.org/drawingml/2006/table">
            <a:tbl>
              <a:tblPr/>
              <a:tblGrid>
                <a:gridCol w="2214389"/>
                <a:gridCol w="2214389"/>
                <a:gridCol w="2214389"/>
                <a:gridCol w="2214389"/>
              </a:tblGrid>
              <a:tr h="620305">
                <a:tc>
                  <a:txBody>
                    <a:bodyPr/>
                    <a:lstStyle/>
                    <a:p>
                      <a:pPr>
                        <a:buNone/>
                      </a:pPr>
                      <a:r>
                        <a:rPr lang="en-IN" sz="1700" b="1">
                          <a:latin typeface="Times New Roman" panose="02020603050405020304" pitchFamily="18" charset="0"/>
                          <a:cs typeface="Times New Roman" panose="02020603050405020304" pitchFamily="18" charset="0"/>
                        </a:rPr>
                        <a:t>Author &amp; Year</a:t>
                      </a:r>
                      <a:endParaRPr lang="en-IN" sz="1700" b="1">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b="1">
                          <a:latin typeface="Times New Roman" panose="02020603050405020304" pitchFamily="18" charset="0"/>
                          <a:cs typeface="Times New Roman" panose="02020603050405020304" pitchFamily="18" charset="0"/>
                        </a:rPr>
                        <a:t>Techniques / Methods</a:t>
                      </a:r>
                      <a:endParaRPr lang="en-IN" sz="1700" b="1">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b="1">
                          <a:latin typeface="Times New Roman" panose="02020603050405020304" pitchFamily="18" charset="0"/>
                          <a:cs typeface="Times New Roman" panose="02020603050405020304" pitchFamily="18" charset="0"/>
                        </a:rPr>
                        <a:t>Key Points of the Paper</a:t>
                      </a:r>
                      <a:endParaRPr lang="en-US" sz="1700" b="1">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b="1" dirty="0">
                          <a:latin typeface="Times New Roman" panose="02020603050405020304" pitchFamily="18" charset="0"/>
                          <a:cs typeface="Times New Roman" panose="02020603050405020304" pitchFamily="18" charset="0"/>
                        </a:rPr>
                        <a:t>Limitations</a:t>
                      </a:r>
                      <a:endParaRPr lang="en-IN" sz="1700" b="1" dirty="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15998">
                <a:tc>
                  <a:txBody>
                    <a:bodyPr/>
                    <a:lstStyle/>
                    <a:p>
                      <a:pPr>
                        <a:buNone/>
                      </a:pPr>
                      <a:r>
                        <a:rPr lang="en-IN" sz="1700" dirty="0">
                          <a:latin typeface="Times New Roman" panose="02020603050405020304" pitchFamily="18" charset="0"/>
                          <a:cs typeface="Times New Roman" panose="02020603050405020304" pitchFamily="18" charset="0"/>
                        </a:rPr>
                        <a:t>Chen et al., 2021</a:t>
                      </a:r>
                      <a:endParaRPr lang="en-IN" sz="1700" dirty="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a:latin typeface="Times New Roman" panose="02020603050405020304" pitchFamily="18" charset="0"/>
                          <a:cs typeface="Times New Roman" panose="02020603050405020304" pitchFamily="18" charset="0"/>
                        </a:rPr>
                        <a:t>Code annotation visualization, structural mapping</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a:latin typeface="Times New Roman" panose="02020603050405020304" pitchFamily="18" charset="0"/>
                          <a:cs typeface="Times New Roman" panose="02020603050405020304" pitchFamily="18" charset="0"/>
                        </a:rPr>
                        <a:t>Provides visual tools to explore relationships between files and code annotations, improving readability.</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a:latin typeface="Times New Roman" panose="02020603050405020304" pitchFamily="18" charset="0"/>
                          <a:cs typeface="Times New Roman" panose="02020603050405020304" pitchFamily="18" charset="0"/>
                        </a:rPr>
                        <a:t>Does not rank file importance or generate summaries; limited analytical depth.</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115998">
                <a:tc>
                  <a:txBody>
                    <a:bodyPr/>
                    <a:lstStyle/>
                    <a:p>
                      <a:pPr>
                        <a:buNone/>
                      </a:pPr>
                      <a:r>
                        <a:rPr lang="en-IN" sz="1700">
                          <a:latin typeface="Times New Roman" panose="02020603050405020304" pitchFamily="18" charset="0"/>
                          <a:cs typeface="Times New Roman" panose="02020603050405020304" pitchFamily="18" charset="0"/>
                        </a:rPr>
                        <a:t>Haiduc et al., 2018</a:t>
                      </a:r>
                      <a:endParaRPr lang="en-IN"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a:latin typeface="Times New Roman" panose="02020603050405020304" pitchFamily="18" charset="0"/>
                          <a:cs typeface="Times New Roman" panose="02020603050405020304" pitchFamily="18" charset="0"/>
                        </a:rPr>
                        <a:t>Feature maps, semantic software representation</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a:latin typeface="Times New Roman" panose="02020603050405020304" pitchFamily="18" charset="0"/>
                          <a:cs typeface="Times New Roman" panose="02020603050405020304" pitchFamily="18" charset="0"/>
                        </a:rPr>
                        <a:t>Maps code features to functional behavior for better comprehension of large systems. Enhances semantic understanding of software.</a:t>
                      </a:r>
                      <a:endParaRPr lang="en-US" sz="170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dirty="0">
                          <a:latin typeface="Times New Roman" panose="02020603050405020304" pitchFamily="18" charset="0"/>
                          <a:cs typeface="Times New Roman" panose="02020603050405020304" pitchFamily="18" charset="0"/>
                        </a:rPr>
                        <a:t>Struggles with scalability on very large projects; lacks dependency ranking and automation.</a:t>
                      </a:r>
                      <a:endParaRPr lang="en-US" sz="1700" dirty="0">
                        <a:latin typeface="Times New Roman" panose="02020603050405020304" pitchFamily="18" charset="0"/>
                        <a:cs typeface="Times New Roman" panose="02020603050405020304" pitchFamily="18" charset="0"/>
                      </a:endParaRPr>
                    </a:p>
                  </a:txBody>
                  <a:tcPr marL="19078" marR="19078" marT="9539" marB="9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776" y="827509"/>
            <a:ext cx="7753175" cy="1731789"/>
          </a:xfrm>
        </p:spPr>
        <p:txBody>
          <a:bodyPr/>
          <a:lstStyle/>
          <a:p>
            <a:r>
              <a:rPr lang="en-IN" sz="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Limitation in Existing systems:</a:t>
            </a:r>
            <a:endParaRPr lang="en-IN" sz="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215776" y="1723213"/>
            <a:ext cx="8496944" cy="5589031"/>
          </a:xfrm>
          <a:prstGeom prst="rect">
            <a:avLst/>
          </a:prstGeom>
          <a:noFill/>
        </p:spPr>
        <p:txBody>
          <a:bodyPr wrap="square">
            <a:spAutoFit/>
          </a:bodyPr>
          <a:lstStyle/>
          <a:p>
            <a:pPr marL="230505" indent="-230505" algn="just">
              <a:lnSpc>
                <a:spcPts val="3600"/>
              </a:lnSpc>
              <a:spcAft>
                <a:spcPts val="18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Most tools focus on code quality and metrics, not on folder structure analysis.</a:t>
            </a:r>
            <a:endParaRPr lang="en-US" sz="2400" dirty="0">
              <a:latin typeface="Times New Roman" panose="02020603050405020304" pitchFamily="18" charset="0"/>
              <a:cs typeface="Times New Roman" panose="02020603050405020304" pitchFamily="18" charset="0"/>
            </a:endParaRPr>
          </a:p>
          <a:p>
            <a:pPr marL="230505" indent="-230505" algn="just">
              <a:lnSpc>
                <a:spcPts val="3600"/>
              </a:lnSpc>
              <a:spcAft>
                <a:spcPts val="18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support for multiple programming languages.</a:t>
            </a:r>
            <a:endParaRPr lang="en-US" sz="2400" dirty="0">
              <a:latin typeface="Times New Roman" panose="02020603050405020304" pitchFamily="18" charset="0"/>
              <a:cs typeface="Times New Roman" panose="02020603050405020304" pitchFamily="18" charset="0"/>
            </a:endParaRPr>
          </a:p>
          <a:p>
            <a:pPr marL="230505" indent="-230505" algn="just">
              <a:lnSpc>
                <a:spcPts val="3600"/>
              </a:lnSpc>
              <a:spcAft>
                <a:spcPts val="18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understanding of project organization and context.</a:t>
            </a:r>
            <a:endParaRPr lang="en-US" sz="2400" dirty="0">
              <a:latin typeface="Times New Roman" panose="02020603050405020304" pitchFamily="18" charset="0"/>
              <a:cs typeface="Times New Roman" panose="02020603050405020304" pitchFamily="18" charset="0"/>
            </a:endParaRPr>
          </a:p>
          <a:p>
            <a:pPr marL="230505" indent="-230505" algn="just">
              <a:lnSpc>
                <a:spcPts val="3600"/>
              </a:lnSpc>
              <a:spcAft>
                <a:spcPts val="18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Inability to detect unused or redundant files effectively.</a:t>
            </a:r>
            <a:endParaRPr lang="en-US" sz="2400" dirty="0">
              <a:latin typeface="Times New Roman" panose="02020603050405020304" pitchFamily="18" charset="0"/>
              <a:cs typeface="Times New Roman" panose="02020603050405020304" pitchFamily="18" charset="0"/>
            </a:endParaRPr>
          </a:p>
          <a:p>
            <a:pPr marL="230505" indent="-230505" algn="just">
              <a:lnSpc>
                <a:spcPts val="3600"/>
              </a:lnSpc>
              <a:spcAft>
                <a:spcPts val="18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 basic visualization without detailed structural insights.</a:t>
            </a:r>
            <a:endParaRPr lang="en-US" sz="2400" dirty="0">
              <a:latin typeface="Times New Roman" panose="02020603050405020304" pitchFamily="18" charset="0"/>
              <a:cs typeface="Times New Roman" panose="02020603050405020304" pitchFamily="18" charset="0"/>
            </a:endParaRPr>
          </a:p>
          <a:p>
            <a:pPr marL="230505" indent="-230505" algn="just">
              <a:lnSpc>
                <a:spcPts val="3600"/>
              </a:lnSpc>
              <a:spcAft>
                <a:spcPts val="18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 manual configuration and lack automated recommendations.</a:t>
            </a:r>
            <a:endParaRPr lang="en-US" sz="2400" dirty="0">
              <a:latin typeface="Times New Roman" panose="02020603050405020304" pitchFamily="18" charset="0"/>
              <a:cs typeface="Times New Roman" panose="02020603050405020304" pitchFamily="18" charset="0"/>
            </a:endParaRPr>
          </a:p>
          <a:p>
            <a:pPr marL="230505" lvl="1" indent="-230505" algn="just">
              <a:lnSpc>
                <a:spcPts val="3600"/>
              </a:lnSpc>
              <a:spcAft>
                <a:spcPts val="1800"/>
              </a:spcAft>
            </a:pP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8" y="682943"/>
            <a:ext cx="7969250" cy="804862"/>
          </a:xfrm>
        </p:spPr>
        <p:txBody>
          <a:bodyPr/>
          <a:lstStyle/>
          <a:p>
            <a:pPr>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 Problem statement and Objectives</a:t>
            </a:r>
            <a:endParaRPr lang="en-IN"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endParaRPr>
          </a:p>
        </p:txBody>
      </p:sp>
      <p:sp>
        <p:nvSpPr>
          <p:cNvPr id="3" name="Content Placeholder 2"/>
          <p:cNvSpPr>
            <a:spLocks noGrp="1"/>
          </p:cNvSpPr>
          <p:nvPr>
            <p:ph idx="1"/>
          </p:nvPr>
        </p:nvSpPr>
        <p:spPr>
          <a:xfrm>
            <a:off x="215900" y="1692275"/>
            <a:ext cx="8640763" cy="5616575"/>
          </a:xfrm>
        </p:spPr>
        <p:txBody>
          <a:bodyPr/>
          <a:lstStyle/>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In software development, project folders often become disorganized due to continuous updates, multiple contributors, and lack of standardized structure. Existing tools primarily focus on code quality, metrics, or performance analysis, but they do not adequately analyze the overall folder organization and structural consistency of coding projects.</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As a result, developers face difficulties in understanding project layout, identifying redundant or unused files, and maintaining proper naming conventions. This leads to reduced productivity, poor maintainability, and challenges in collaboration</a:t>
            </a:r>
            <a:endParaRPr 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endParaRPr lang="en-IN" sz="34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693714" y="1371246"/>
            <a:ext cx="871539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4572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scan and analyze all files and subfolders within a coding project directory.</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categorize files based on type, language, or purpose.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reports on folder hierarchy, file count, and code distribution.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duplicate, unused, or improperly placed files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adherence to predefined organizational standards.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4572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defTabSz="457200">
              <a:spcBef>
                <a:spcPct val="0"/>
              </a:spcBef>
              <a:buClrTx/>
              <a:buSzTx/>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suggestions for improving project structure and  maintainability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647700" y="2889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Proposed Methodology</a:t>
            </a: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19459" name="Rectangle 2"/>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eaLnBrk="1" hangingPunct="1">
              <a:lnSpc>
                <a:spcPct val="93000"/>
              </a:lnSpc>
              <a:spcAft>
                <a:spcPts val="1415"/>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19460" name="TextBox 2"/>
          <p:cNvSpPr txBox="1">
            <a:spLocks noChangeArrowheads="1"/>
          </p:cNvSpPr>
          <p:nvPr/>
        </p:nvSpPr>
        <p:spPr bwMode="auto">
          <a:xfrm>
            <a:off x="672742" y="1768475"/>
            <a:ext cx="8901472" cy="3785652"/>
          </a:xfrm>
          <a:prstGeom prst="rect">
            <a:avLst/>
          </a:prstGeom>
          <a:noFill/>
          <a:ln>
            <a:noFill/>
          </a:ln>
        </p:spPr>
        <p:txBody>
          <a:bodyPr wrap="square">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marL="0" indent="0" algn="just" defTabSz="914400">
              <a:spcBef>
                <a:spcPct val="20000"/>
              </a:spcBef>
              <a:defRPr/>
            </a:pPr>
            <a:r>
              <a:rPr lang="en-US" sz="2400" dirty="0">
                <a:latin typeface="Times New Roman" panose="02020603050405020304" pitchFamily="18" charset="0"/>
                <a:cs typeface="Times New Roman" panose="02020603050405020304" pitchFamily="18" charset="0"/>
              </a:rPr>
              <a:t>The Coding Projects Folder Analyzer automatically scans project directories, analyzes folder structure, and generates reports with issues and improvement suggestions. It consists of a UI for folder selection, a Folder Scanner using DFS to collect file metadata, a Structure Analyzer to calculate metrics like file count and folder depth, a Rule Engine to validate naming conventions and detect duplicates, and a Report Generator to present results. Optionally, a database stores analysis history. Unlike existing tools, it focuses on folder organization, supports multi-language projects, and provides actionable suggestions to improve maintainability and collaboration.</a:t>
            </a:r>
            <a:endParaRPr lang="en-GB" altLang="en-US" sz="24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1840" y="1619597"/>
            <a:ext cx="6705600" cy="5618930"/>
          </a:xfrm>
          <a:prstGeom prst="rect">
            <a:avLst/>
          </a:prstGeom>
        </p:spPr>
      </p:pic>
      <p:sp>
        <p:nvSpPr>
          <p:cNvPr id="3" name="TextBox 2"/>
          <p:cNvSpPr txBox="1"/>
          <p:nvPr/>
        </p:nvSpPr>
        <p:spPr>
          <a:xfrm>
            <a:off x="647824" y="467469"/>
            <a:ext cx="6264696" cy="615553"/>
          </a:xfrm>
          <a:prstGeom prst="rect">
            <a:avLst/>
          </a:prstGeom>
          <a:noFill/>
        </p:spPr>
        <p:txBody>
          <a:bodyPr wrap="square" rtlCol="0">
            <a:spAutoFit/>
          </a:bodyPr>
          <a:lstStyle/>
          <a:p>
            <a:r>
              <a:rPr lang="en-IN" sz="3400" b="1" dirty="0">
                <a:latin typeface="Times New Roman" panose="02020603050405020304" pitchFamily="18" charset="0"/>
                <a:cs typeface="Times New Roman" panose="02020603050405020304" pitchFamily="18" charset="0"/>
              </a:rPr>
              <a:t>Architecture Diagram:</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3808" y="395531"/>
            <a:ext cx="7273925" cy="647700"/>
          </a:xfrm>
          <a:prstGeom prst="rect">
            <a:avLst/>
          </a:prstGeom>
          <a:noFill/>
        </p:spPr>
        <p:txBody>
          <a:bodyPr>
            <a:spAutoFit/>
          </a:bodyPr>
          <a:lstStyle/>
          <a:p>
            <a:pPr>
              <a:defRPr/>
            </a:pPr>
            <a:r>
              <a:rPr lang="en-US"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Experimental Setup:</a:t>
            </a:r>
            <a:endParaRPr lang="en-IN" sz="3600" b="1" dirty="0">
              <a:effectLst>
                <a:outerShdw blurRad="38100" dist="38100" dir="2700000" algn="tl">
                  <a:srgbClr val="000000">
                    <a:alpha val="43137"/>
                  </a:srgbClr>
                </a:outerShdw>
              </a:effectLst>
            </a:endParaRPr>
          </a:p>
        </p:txBody>
      </p:sp>
      <p:sp>
        <p:nvSpPr>
          <p:cNvPr id="21507" name="TextBox 4"/>
          <p:cNvSpPr txBox="1">
            <a:spLocks noChangeArrowheads="1"/>
          </p:cNvSpPr>
          <p:nvPr/>
        </p:nvSpPr>
        <p:spPr bwMode="auto">
          <a:xfrm>
            <a:off x="647824" y="719381"/>
            <a:ext cx="7921128" cy="685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Frontend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-React.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-Vite.</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 Mermaid.js : Flowchart generation.</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Backend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-Python.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Uvicorn</a:t>
            </a:r>
            <a:r>
              <a:rPr lang="en-IN" sz="2400" dirty="0">
                <a:latin typeface="Times New Roman" panose="02020603050405020304" pitchFamily="18" charset="0"/>
                <a:cs typeface="Times New Roman" panose="02020603050405020304" pitchFamily="18" charset="0"/>
              </a:rPr>
              <a:t> : ASGI web server.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NetworkX</a:t>
            </a:r>
            <a:r>
              <a:rPr lang="en-IN" sz="2400" dirty="0">
                <a:latin typeface="Times New Roman" panose="02020603050405020304" pitchFamily="18" charset="0"/>
                <a:cs typeface="Times New Roman" panose="02020603050405020304" pitchFamily="18" charset="0"/>
              </a:rPr>
              <a:t> : Graph algorithms &amp; PageRank.</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Algorithms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-AST Parsing : Python code structure analysis.</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-PageRank : File importance calculation.</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-BFS Traversal : Execution flow mapping.</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-Force-Directed Layout : D3.js graph positioning.</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-Pattern Matching : Framework detection.</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801688"/>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 </a:t>
            </a: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a:p>
            <a:pPr eaLnBrk="1" fontAlgn="auto" hangingPunct="1">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22531" name="Rectangle 2"/>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eaLnBrk="1" hangingPunct="1">
              <a:lnSpc>
                <a:spcPct val="93000"/>
              </a:lnSpc>
              <a:spcAft>
                <a:spcPts val="1415"/>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4" name="Picture 3" descr="Screenshot 2026-02-13 112426"/>
          <p:cNvPicPr>
            <a:picLocks noChangeAspect="1"/>
          </p:cNvPicPr>
          <p:nvPr/>
        </p:nvPicPr>
        <p:blipFill>
          <a:blip r:embed="rId1"/>
          <a:stretch>
            <a:fillRect/>
          </a:stretch>
        </p:blipFill>
        <p:spPr>
          <a:xfrm>
            <a:off x="4752340" y="4067810"/>
            <a:ext cx="5306695" cy="3400425"/>
          </a:xfrm>
          <a:prstGeom prst="rect">
            <a:avLst/>
          </a:prstGeom>
        </p:spPr>
      </p:pic>
      <p:pic>
        <p:nvPicPr>
          <p:cNvPr id="5" name="Picture 4" descr="Screenshot 2026-02-13 112440"/>
          <p:cNvPicPr>
            <a:picLocks noChangeAspect="1"/>
          </p:cNvPicPr>
          <p:nvPr/>
        </p:nvPicPr>
        <p:blipFill>
          <a:blip r:embed="rId2"/>
          <a:stretch>
            <a:fillRect/>
          </a:stretch>
        </p:blipFill>
        <p:spPr>
          <a:xfrm>
            <a:off x="144145" y="755650"/>
            <a:ext cx="4705350" cy="3280410"/>
          </a:xfrm>
          <a:prstGeom prst="rect">
            <a:avLst/>
          </a:prstGeom>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GB" altLang="en-US"/>
          </a:p>
        </p:txBody>
      </p:sp>
      <p:sp>
        <p:nvSpPr>
          <p:cNvPr id="3" name="Content Placeholder 2"/>
          <p:cNvSpPr>
            <a:spLocks noGrp="1"/>
          </p:cNvSpPr>
          <p:nvPr>
            <p:ph idx="1"/>
          </p:nvPr>
        </p:nvSpPr>
        <p:spPr/>
        <p:txBody>
          <a:bodyPr/>
          <a:p>
            <a:endParaRPr lang="en-GB" altLang="en-US"/>
          </a:p>
        </p:txBody>
      </p:sp>
      <p:pic>
        <p:nvPicPr>
          <p:cNvPr id="4" name="Picture 3" descr="Screenshot 2026-02-13 112253"/>
          <p:cNvPicPr>
            <a:picLocks noChangeAspect="1"/>
          </p:cNvPicPr>
          <p:nvPr/>
        </p:nvPicPr>
        <p:blipFill>
          <a:blip r:embed="rId1"/>
          <a:stretch>
            <a:fillRect/>
          </a:stretch>
        </p:blipFill>
        <p:spPr>
          <a:xfrm>
            <a:off x="1791335" y="3779520"/>
            <a:ext cx="5800090" cy="3709670"/>
          </a:xfrm>
          <a:prstGeom prst="rect">
            <a:avLst/>
          </a:prstGeom>
        </p:spPr>
      </p:pic>
      <p:pic>
        <p:nvPicPr>
          <p:cNvPr id="5" name="Picture 4" descr="Screenshot 2026-02-13 111927"/>
          <p:cNvPicPr>
            <a:picLocks noChangeAspect="1"/>
          </p:cNvPicPr>
          <p:nvPr/>
        </p:nvPicPr>
        <p:blipFill>
          <a:blip r:embed="rId2"/>
          <a:stretch>
            <a:fillRect/>
          </a:stretch>
        </p:blipFill>
        <p:spPr>
          <a:xfrm>
            <a:off x="2304415" y="255905"/>
            <a:ext cx="4782820" cy="33439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503238" y="301625"/>
            <a:ext cx="9070975" cy="1262063"/>
          </a:xfrm>
          <a:prstGeom prst="rect">
            <a:avLst/>
          </a:prstGeom>
          <a:noFill/>
          <a:ln>
            <a:noFill/>
          </a:ln>
        </p:spPr>
        <p:txBody>
          <a:bodyPr lIns="0" tIns="31680" rIns="0" bIns="0" anchor="ctr"/>
          <a:lstStyle>
            <a:lvl1pPr>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algn="just">
              <a:lnSpc>
                <a:spcPct val="150000"/>
              </a:lnSpc>
              <a:buClr>
                <a:srgbClr val="000000"/>
              </a:buClr>
              <a:buSzPct val="100000"/>
              <a:buFont typeface="Times New Roman" panose="02020603050405020304" pitchFamily="18" charset="0"/>
              <a:buNone/>
              <a:defRPr/>
            </a:pPr>
            <a:r>
              <a:rPr lang="en-US"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Conclusion </a:t>
            </a:r>
            <a:endParaRPr lang="en-US"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6627" name="Rectangle 2"/>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eaLnBrk="1" hangingPunct="1">
              <a:lnSpc>
                <a:spcPct val="93000"/>
              </a:lnSpc>
              <a:spcAft>
                <a:spcPts val="1415"/>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1513" y="1563688"/>
            <a:ext cx="6997700" cy="5095875"/>
          </a:xfrm>
        </p:spPr>
        <p:txBody>
          <a:bodyPr/>
          <a:lstStyle/>
          <a:p>
            <a:pPr algn="just">
              <a:buClr>
                <a:schemeClr val="tx1"/>
              </a:buClr>
              <a:buSzPct val="900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The Coding Project Folder Analyzer automates the understanding of large codebases by analyzing structure, dependencies, and file importance. It reduces manual effort and speeds up developer onboarding.</a:t>
            </a:r>
            <a:endParaRPr lang="en-US" sz="2400" dirty="0">
              <a:solidFill>
                <a:schemeClr val="tx1"/>
              </a:solidFill>
              <a:latin typeface="Times New Roman" panose="02020603050405020304" pitchFamily="18" charset="0"/>
              <a:cs typeface="Times New Roman" panose="02020603050405020304" pitchFamily="18" charset="0"/>
            </a:endParaRPr>
          </a:p>
          <a:p>
            <a:pPr algn="just">
              <a:buClr>
                <a:schemeClr val="tx1"/>
              </a:buClr>
              <a:buSzPct val="900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By combining visualization and intelligent analysis, the system improves productivity, maintainability, and project navigation. It highlights how AI-driven tools can simplify modern software development.</a:t>
            </a:r>
            <a:endParaRPr 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513" y="671514"/>
            <a:ext cx="6997700" cy="804068"/>
          </a:xfrm>
        </p:spPr>
        <p:txBody>
          <a:bodyPr/>
          <a:lstStyle/>
          <a:p>
            <a:r>
              <a:rPr lang="en-US" sz="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Scope</a:t>
            </a:r>
            <a:endParaRPr lang="en-IN" sz="3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671512" y="1475582"/>
            <a:ext cx="7465143" cy="3600399"/>
          </a:xfrm>
        </p:spPr>
        <p:txBody>
          <a:bodyPr/>
          <a:lstStyle/>
          <a:p>
            <a:pPr marL="230505" lvl="0" indent="-230505" algn="just" defTabSz="914400">
              <a:lnSpc>
                <a:spcPts val="3400"/>
              </a:lnSpc>
              <a:spcBef>
                <a:spcPct val="0"/>
              </a:spcBef>
              <a:spcAft>
                <a:spcPts val="180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Integration with GitHub and other remote repositories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230505" lvl="0" indent="-230505" algn="just" defTabSz="914400">
              <a:lnSpc>
                <a:spcPts val="3400"/>
              </a:lnSpc>
              <a:spcBef>
                <a:spcPct val="0"/>
              </a:spcBef>
              <a:spcAft>
                <a:spcPts val="180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Real-time monitoring of project changes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230505" lvl="0" indent="-230505" algn="just" defTabSz="914400">
              <a:lnSpc>
                <a:spcPts val="3400"/>
              </a:lnSpc>
              <a:spcBef>
                <a:spcPct val="0"/>
              </a:spcBef>
              <a:spcAft>
                <a:spcPts val="180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AI-based refactoring and optimization suggestions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230505" lvl="0" indent="-230505" algn="just" defTabSz="914400">
              <a:lnSpc>
                <a:spcPts val="3400"/>
              </a:lnSpc>
              <a:spcBef>
                <a:spcPct val="0"/>
              </a:spcBef>
              <a:spcAft>
                <a:spcPts val="180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IDE plugin support (VS Code / IntelliJ)</a:t>
            </a:r>
            <a:endParaRPr lang="en-US" altLang="en-US" sz="2400" dirty="0">
              <a:solidFill>
                <a:schemeClr val="tx1"/>
              </a:solidFill>
              <a:latin typeface="Times New Roman" panose="02020603050405020304" pitchFamily="18" charset="0"/>
              <a:cs typeface="Times New Roman" panose="02020603050405020304" pitchFamily="18" charset="0"/>
            </a:endParaRPr>
          </a:p>
          <a:p>
            <a:pPr marL="230505" lvl="0" indent="-230505" algn="just" defTabSz="914400">
              <a:lnSpc>
                <a:spcPts val="3400"/>
              </a:lnSpc>
              <a:spcBef>
                <a:spcPct val="0"/>
              </a:spcBef>
              <a:spcAft>
                <a:spcPts val="180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Automated documentation generation</a:t>
            </a:r>
            <a:endParaRPr lang="en-US" altLang="en-US" sz="2400" dirty="0">
              <a:solidFill>
                <a:schemeClr val="tx1"/>
              </a:solidFill>
              <a:latin typeface="Times New Roman" panose="02020603050405020304" pitchFamily="18" charset="0"/>
              <a:cs typeface="Times New Roman" panose="02020603050405020304" pitchFamily="18" charset="0"/>
            </a:endParaRPr>
          </a:p>
          <a:p>
            <a:pPr marL="230505" lvl="0" indent="-230505" algn="just" defTabSz="914400">
              <a:lnSpc>
                <a:spcPts val="3400"/>
              </a:lnSpc>
              <a:spcBef>
                <a:spcPct val="0"/>
              </a:spcBef>
              <a:spcAft>
                <a:spcPts val="1800"/>
              </a:spcAft>
              <a:buClrTx/>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Support for large enterprise-scale projects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8"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28675" name="Rectangle 2"/>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eaLnBrk="1" hangingPunct="1">
              <a:lnSpc>
                <a:spcPct val="93000"/>
              </a:lnSpc>
              <a:spcAft>
                <a:spcPts val="1415"/>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28676" name="Content Placeholder 2"/>
          <p:cNvSpPr txBox="1">
            <a:spLocks noChangeArrowheads="1"/>
          </p:cNvSpPr>
          <p:nvPr/>
        </p:nvSpPr>
        <p:spPr bwMode="auto">
          <a:xfrm>
            <a:off x="539750" y="1484313"/>
            <a:ext cx="8677275" cy="56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marL="0" indent="0">
              <a:spcBef>
                <a:spcPct val="0"/>
              </a:spcBef>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 Source Code Comprehension by Module Clustering.</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altLang="en-US" sz="2400" u="sng" dirty="0">
                <a:solidFill>
                  <a:schemeClr val="tx1"/>
                </a:solidFill>
                <a:latin typeface="Times New Roman" panose="02020603050405020304" pitchFamily="18" charset="0"/>
                <a:cs typeface="Times New Roman" panose="02020603050405020304" pitchFamily="18" charset="0"/>
                <a:hlinkClick r:id="rId1"/>
              </a:rPr>
              <a:t>https://doi.org/10.1016/j.advengsoft.2022.103252</a:t>
            </a:r>
            <a:endParaRPr lang="en-US" altLang="en-US" sz="2400" u="sng" dirty="0">
              <a:solidFill>
                <a:schemeClr val="tx1"/>
              </a:solidFill>
              <a:latin typeface="Times New Roman" panose="02020603050405020304" pitchFamily="18" charset="0"/>
              <a:cs typeface="Times New Roman" panose="02020603050405020304" pitchFamily="18" charset="0"/>
            </a:endParaRPr>
          </a:p>
          <a:p>
            <a:pPr>
              <a:spcBef>
                <a:spcPct val="0"/>
              </a:spcBef>
              <a:buFont typeface="+mj-lt"/>
              <a:buAutoNum type="arabicPeriod"/>
            </a:pPr>
            <a:endParaRPr lang="en-US" altLang="en-US" sz="2400" u="sng" dirty="0">
              <a:solidFill>
                <a:schemeClr val="tx1"/>
              </a:solidFill>
              <a:latin typeface="Times New Roman" panose="02020603050405020304" pitchFamily="18" charset="0"/>
              <a:cs typeface="Times New Roman" panose="02020603050405020304" pitchFamily="18" charset="0"/>
            </a:endParaRPr>
          </a:p>
          <a:p>
            <a:pPr marL="0" indent="0">
              <a:spcBef>
                <a:spcPct val="0"/>
              </a:spcBef>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E-SC4R: Explaining Software Clustering for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Remodularisation</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https://arxiv.org/abs/2107.01766</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spcBef>
                <a:spcPct val="0"/>
              </a:spcBef>
              <a:buFont typeface="+mj-lt"/>
              <a:buAutoNum type="arabicPeriod"/>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spcBef>
                <a:spcPct val="0"/>
              </a:spcBef>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CADV: Software Visualization for Code Annotations.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https://arxiv.org/abs/2112.10938</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spcBef>
                <a:spcPct val="0"/>
              </a:spcBef>
              <a:buFont typeface="+mj-lt"/>
              <a:buAutoNum type="arabicPeriod"/>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spcBef>
                <a:spcPct val="0"/>
              </a:spcBef>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Maps: Comprehensible Software Representation.</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https://arxiv.org/abs/1812.09873</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spcBef>
                <a:spcPct val="0"/>
              </a:spcBef>
              <a:buFont typeface="+mj-lt"/>
              <a:buAutoNum type="arabicPeriod"/>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spcBef>
                <a:spcPct val="0"/>
              </a:spcBef>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Clustering Source Code for Structural Pattern Discovery.</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https://link.springer.com/article/10.1007/s41060-024-00554-5</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647700" y="3057525"/>
            <a:ext cx="9070975"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1pPr>
            <a:lvl2pPr marL="742950" indent="-28575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2pPr>
            <a:lvl3pPr marL="11430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3pPr>
            <a:lvl4pPr marL="16002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4pPr>
            <a:lvl5pPr marL="2057400" indent="-22860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Thank You...!!</a:t>
            </a:r>
            <a:endParaRPr lang="en-IN" altLang="en-US" sz="3600" b="1">
              <a:solidFill>
                <a:srgbClr val="000000"/>
              </a:solidFill>
              <a:latin typeface="Times New Roman" panose="02020603050405020304" pitchFamily="18" charset="0"/>
              <a:cs typeface="DejaVu Sans"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6725</Words>
  <Application>WPS Presentation</Application>
  <PresentationFormat>Custom</PresentationFormat>
  <Paragraphs>181</Paragraphs>
  <Slides>17</Slides>
  <Notes>10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17</vt:i4>
      </vt:variant>
    </vt:vector>
  </HeadingPairs>
  <TitlesOfParts>
    <vt:vector size="33" baseType="lpstr">
      <vt:lpstr>Arial</vt:lpstr>
      <vt:lpstr>SimSun</vt:lpstr>
      <vt:lpstr>Wingdings</vt:lpstr>
      <vt:lpstr>Trebuchet MS</vt:lpstr>
      <vt:lpstr>Wingdings 3</vt:lpstr>
      <vt:lpstr>Symbol</vt:lpstr>
      <vt:lpstr>Arial</vt:lpstr>
      <vt:lpstr>Times New Roman</vt:lpstr>
      <vt:lpstr>DejaVu Sans</vt:lpstr>
      <vt:lpstr>Calibri</vt:lpstr>
      <vt:lpstr>Noto Sans CJK SC Regular</vt:lpstr>
      <vt:lpstr>Segoe Print</vt:lpstr>
      <vt:lpstr>Source Sans Pro</vt:lpstr>
      <vt:lpstr>Microsoft YaHei</vt:lpstr>
      <vt:lpstr>Arial Unicode MS</vt:lpstr>
      <vt:lpstr>Facet</vt:lpstr>
      <vt:lpstr>PowerPoint 演示文稿</vt:lpstr>
      <vt:lpstr>PowerPoint 演示文稿</vt:lpstr>
      <vt:lpstr>PowerPoint 演示文稿</vt:lpstr>
      <vt:lpstr>PowerPoint 演示文稿</vt:lpstr>
      <vt:lpstr>PowerPoint 演示文稿</vt:lpstr>
      <vt:lpstr>Limitation in Existing systems:</vt:lpstr>
      <vt:lpstr> Problem statement and Objectives</vt:lpstr>
      <vt:lpstr>Objectives:</vt:lpstr>
      <vt:lpstr>PowerPoint 演示文稿</vt:lpstr>
      <vt:lpstr>PowerPoint 演示文稿</vt:lpstr>
      <vt:lpstr>PowerPoint 演示文稿</vt:lpstr>
      <vt:lpstr>PowerPoint 演示文稿</vt:lpstr>
      <vt:lpstr>PowerPoint 演示文稿</vt:lpstr>
      <vt:lpstr>PowerPoint 演示文稿</vt:lpstr>
      <vt:lpstr>Future Scope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Prathamesh Kolhe</cp:lastModifiedBy>
  <cp:revision>52</cp:revision>
  <cp:lastPrinted>2113-01-01T00:00:00Z</cp:lastPrinted>
  <dcterms:created xsi:type="dcterms:W3CDTF">2017-10-25T08:22:00Z</dcterms:created>
  <dcterms:modified xsi:type="dcterms:W3CDTF">2026-04-17T06:43:07Z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y fmtid="{D5CDD505-2E9C-101B-9397-08002B2CF9AE}" pid="12" name="ICV">
    <vt:lpwstr>7655368B21854E79BE02A59775D5AF54_12</vt:lpwstr>
  </property>
  <property fmtid="{D5CDD505-2E9C-101B-9397-08002B2CF9AE}" pid="13" name="KSOProductBuildVer">
    <vt:lpwstr>2057-12.2.0.23201</vt:lpwstr>
  </property>
</Properties>
</file>